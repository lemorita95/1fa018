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50" r:id="rId1"/>
    <p:sldMasterId id="2147483666" r:id="rId2"/>
    <p:sldMasterId id="2147483678" r:id="rId3"/>
  </p:sldMasterIdLst>
  <p:notesMasterIdLst>
    <p:notesMasterId r:id="rId15"/>
  </p:notesMasterIdLst>
  <p:sldIdLst>
    <p:sldId id="264" r:id="rId4"/>
    <p:sldId id="268" r:id="rId5"/>
    <p:sldId id="300" r:id="rId6"/>
    <p:sldId id="322" r:id="rId7"/>
    <p:sldId id="316" r:id="rId8"/>
    <p:sldId id="320" r:id="rId9"/>
    <p:sldId id="321" r:id="rId10"/>
    <p:sldId id="317" r:id="rId11"/>
    <p:sldId id="323" r:id="rId12"/>
    <p:sldId id="324" r:id="rId13"/>
    <p:sldId id="325"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Cambria Math" panose="02040503050406030204" pitchFamily="18" charset="0"/>
      <p:regular r:id="rId20"/>
    </p:embeddedFont>
    <p:embeddedFont>
      <p:font typeface="Work Sans" pitchFamily="2" charset="0"/>
      <p:regular r:id="rId21"/>
      <p:bold r:id="rId22"/>
      <p:italic r:id="rId23"/>
      <p:boldItalic r:id="rId24"/>
    </p:embeddedFont>
    <p:embeddedFont>
      <p:font typeface="Work Sans Medium" pitchFamily="2" charset="0"/>
      <p:regular r:id="rId25"/>
      <p:italic r:id="rId26"/>
    </p:embeddedFont>
    <p:embeddedFont>
      <p:font typeface="Work Sans SemiBold" pitchFamily="2" charset="0"/>
      <p:regular r:id="rId27"/>
      <p:bold r:id="rId28"/>
      <p:italic r:id="rId29"/>
      <p:boldItalic r:id="rId3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344" userDrawn="1">
          <p15:clr>
            <a:srgbClr val="A4A3A4"/>
          </p15:clr>
        </p15:guide>
        <p15:guide id="4" pos="597" userDrawn="1">
          <p15:clr>
            <a:srgbClr val="A4A3A4"/>
          </p15:clr>
        </p15:guide>
        <p15:guide id="5" pos="3273" userDrawn="1">
          <p15:clr>
            <a:srgbClr val="A4A3A4"/>
          </p15:clr>
        </p15:guide>
        <p15:guide id="6" pos="3500" userDrawn="1">
          <p15:clr>
            <a:srgbClr val="A4A3A4"/>
          </p15:clr>
        </p15:guide>
        <p15:guide id="7" pos="6153" userDrawn="1">
          <p15:clr>
            <a:srgbClr val="A4A3A4"/>
          </p15:clr>
        </p15:guide>
        <p15:guide id="8" orient="horz" pos="10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EAD2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55"/>
    <p:restoredTop sz="85997"/>
  </p:normalViewPr>
  <p:slideViewPr>
    <p:cSldViewPr snapToGrid="0" showGuides="1">
      <p:cViewPr>
        <p:scale>
          <a:sx n="69" d="100"/>
          <a:sy n="69" d="100"/>
        </p:scale>
        <p:origin x="672" y="72"/>
      </p:cViewPr>
      <p:guideLst>
        <p:guide orient="horz" pos="2160"/>
        <p:guide pos="3840"/>
        <p:guide orient="horz" pos="1344"/>
        <p:guide pos="597"/>
        <p:guide pos="3273"/>
        <p:guide pos="3500"/>
        <p:guide pos="6153"/>
        <p:guide orient="horz" pos="1026"/>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Master" Target="slideMasters/slideMaster3.xml"/><Relationship Id="rId21" Type="http://schemas.openxmlformats.org/officeDocument/2006/relationships/font" Target="fonts/font6.fntdata"/><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9.fntdata"/><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7.xml"/><Relationship Id="rId19" Type="http://schemas.openxmlformats.org/officeDocument/2006/relationships/font" Target="fonts/font4.fntdata"/><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E67863-098D-7443-8C24-5FBC4AB783A3}" type="datetimeFigureOut">
              <a:t>08.01.2026</a:t>
            </a:fld>
            <a:endParaRPr lang="en-GB"/>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GB"/>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31592-3C66-914C-8F2B-350F777116DA}" type="slidenum">
              <a:t>‹#›</a:t>
            </a:fld>
            <a:endParaRPr lang="en-GB"/>
          </a:p>
        </p:txBody>
      </p:sp>
    </p:spTree>
    <p:extLst>
      <p:ext uri="{BB962C8B-B14F-4D97-AF65-F5344CB8AC3E}">
        <p14:creationId xmlns:p14="http://schemas.microsoft.com/office/powerpoint/2010/main" val="356771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B85BE-2830-394A-293A-4604A5AC5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BBD47-819C-CBF3-6A1A-F3D94B6A3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24924-2FD7-5313-36CD-064D1866E804}"/>
              </a:ext>
            </a:extLst>
          </p:cNvPr>
          <p:cNvSpPr>
            <a:spLocks noGrp="1"/>
          </p:cNvSpPr>
          <p:nvPr>
            <p:ph type="body" idx="1"/>
          </p:nvPr>
        </p:nvSpPr>
        <p:spPr/>
        <p:txBody>
          <a:bodyPr/>
          <a:lstStyle/>
          <a:p>
            <a:endParaRPr lang="en-BR" sz="1600" dirty="0"/>
          </a:p>
        </p:txBody>
      </p:sp>
      <p:sp>
        <p:nvSpPr>
          <p:cNvPr id="4" name="Slide Number Placeholder 3">
            <a:extLst>
              <a:ext uri="{FF2B5EF4-FFF2-40B4-BE49-F238E27FC236}">
                <a16:creationId xmlns:a16="http://schemas.microsoft.com/office/drawing/2014/main" id="{C0EA680C-7493-B49E-3F7C-1F4EBAEF4906}"/>
              </a:ext>
            </a:extLst>
          </p:cNvPr>
          <p:cNvSpPr>
            <a:spLocks noGrp="1"/>
          </p:cNvSpPr>
          <p:nvPr>
            <p:ph type="sldNum" sz="quarter" idx="5"/>
          </p:nvPr>
        </p:nvSpPr>
        <p:spPr/>
        <p:txBody>
          <a:bodyPr/>
          <a:lstStyle/>
          <a:p>
            <a:fld id="{FAD31592-3C66-914C-8F2B-350F777116DA}" type="slidenum">
              <a:rPr lang="en-BR" smtClean="0"/>
              <a:t>4</a:t>
            </a:fld>
            <a:endParaRPr lang="en-BR"/>
          </a:p>
        </p:txBody>
      </p:sp>
    </p:spTree>
    <p:extLst>
      <p:ext uri="{BB962C8B-B14F-4D97-AF65-F5344CB8AC3E}">
        <p14:creationId xmlns:p14="http://schemas.microsoft.com/office/powerpoint/2010/main" val="1322706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2C986-0FEF-EBD9-3D26-FBB5B2EA9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A0E0F-50A0-2895-9B58-4EE648288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11371-329C-A872-C007-92CEFFF70A5F}"/>
              </a:ext>
            </a:extLst>
          </p:cNvPr>
          <p:cNvSpPr>
            <a:spLocks noGrp="1"/>
          </p:cNvSpPr>
          <p:nvPr>
            <p:ph type="body" idx="1"/>
          </p:nvPr>
        </p:nvSpPr>
        <p:spPr/>
        <p:txBody>
          <a:bodyPr/>
          <a:lstStyle/>
          <a:p>
            <a:endParaRPr lang="en-BR" sz="1600" dirty="0"/>
          </a:p>
        </p:txBody>
      </p:sp>
      <p:sp>
        <p:nvSpPr>
          <p:cNvPr id="4" name="Slide Number Placeholder 3">
            <a:extLst>
              <a:ext uri="{FF2B5EF4-FFF2-40B4-BE49-F238E27FC236}">
                <a16:creationId xmlns:a16="http://schemas.microsoft.com/office/drawing/2014/main" id="{F858BA25-0BFA-8652-AFC7-8F629D91EE9B}"/>
              </a:ext>
            </a:extLst>
          </p:cNvPr>
          <p:cNvSpPr>
            <a:spLocks noGrp="1"/>
          </p:cNvSpPr>
          <p:nvPr>
            <p:ph type="sldNum" sz="quarter" idx="5"/>
          </p:nvPr>
        </p:nvSpPr>
        <p:spPr/>
        <p:txBody>
          <a:bodyPr/>
          <a:lstStyle/>
          <a:p>
            <a:fld id="{FAD31592-3C66-914C-8F2B-350F777116DA}" type="slidenum">
              <a:rPr lang="en-BR" smtClean="0"/>
              <a:t>5</a:t>
            </a:fld>
            <a:endParaRPr lang="en-BR"/>
          </a:p>
        </p:txBody>
      </p:sp>
    </p:spTree>
    <p:extLst>
      <p:ext uri="{BB962C8B-B14F-4D97-AF65-F5344CB8AC3E}">
        <p14:creationId xmlns:p14="http://schemas.microsoft.com/office/powerpoint/2010/main" val="1228770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7B84-EFB3-14BF-9EBE-63AFCC078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E9695-464C-3A32-B0E0-73B1437D6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46A4D-A265-9199-4C50-09A2E5905A63}"/>
              </a:ext>
            </a:extLst>
          </p:cNvPr>
          <p:cNvSpPr>
            <a:spLocks noGrp="1"/>
          </p:cNvSpPr>
          <p:nvPr>
            <p:ph type="body" idx="1"/>
          </p:nvPr>
        </p:nvSpPr>
        <p:spPr/>
        <p:txBody>
          <a:bodyPr/>
          <a:lstStyle/>
          <a:p>
            <a:endParaRPr lang="en-BR" sz="1600" dirty="0"/>
          </a:p>
        </p:txBody>
      </p:sp>
      <p:sp>
        <p:nvSpPr>
          <p:cNvPr id="4" name="Slide Number Placeholder 3">
            <a:extLst>
              <a:ext uri="{FF2B5EF4-FFF2-40B4-BE49-F238E27FC236}">
                <a16:creationId xmlns:a16="http://schemas.microsoft.com/office/drawing/2014/main" id="{A4FABD3B-20A7-2F38-EAF6-E5863A8619B9}"/>
              </a:ext>
            </a:extLst>
          </p:cNvPr>
          <p:cNvSpPr>
            <a:spLocks noGrp="1"/>
          </p:cNvSpPr>
          <p:nvPr>
            <p:ph type="sldNum" sz="quarter" idx="5"/>
          </p:nvPr>
        </p:nvSpPr>
        <p:spPr/>
        <p:txBody>
          <a:bodyPr/>
          <a:lstStyle/>
          <a:p>
            <a:fld id="{FAD31592-3C66-914C-8F2B-350F777116DA}" type="slidenum">
              <a:rPr lang="en-BR" smtClean="0"/>
              <a:t>6</a:t>
            </a:fld>
            <a:endParaRPr lang="en-BR"/>
          </a:p>
        </p:txBody>
      </p:sp>
    </p:spTree>
    <p:extLst>
      <p:ext uri="{BB962C8B-B14F-4D97-AF65-F5344CB8AC3E}">
        <p14:creationId xmlns:p14="http://schemas.microsoft.com/office/powerpoint/2010/main" val="1780268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37320-E394-889B-371E-06D77B125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B4BAE8-38E5-2C29-96C6-6036F7B34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29097-657C-54C9-395B-55475AC2FA32}"/>
              </a:ext>
            </a:extLst>
          </p:cNvPr>
          <p:cNvSpPr>
            <a:spLocks noGrp="1"/>
          </p:cNvSpPr>
          <p:nvPr>
            <p:ph type="body" idx="1"/>
          </p:nvPr>
        </p:nvSpPr>
        <p:spPr/>
        <p:txBody>
          <a:bodyPr/>
          <a:lstStyle/>
          <a:p>
            <a:endParaRPr lang="en-BR" sz="1600" dirty="0"/>
          </a:p>
        </p:txBody>
      </p:sp>
      <p:sp>
        <p:nvSpPr>
          <p:cNvPr id="4" name="Slide Number Placeholder 3">
            <a:extLst>
              <a:ext uri="{FF2B5EF4-FFF2-40B4-BE49-F238E27FC236}">
                <a16:creationId xmlns:a16="http://schemas.microsoft.com/office/drawing/2014/main" id="{B97BE028-2A02-6660-CEDF-F9EF2AE180A9}"/>
              </a:ext>
            </a:extLst>
          </p:cNvPr>
          <p:cNvSpPr>
            <a:spLocks noGrp="1"/>
          </p:cNvSpPr>
          <p:nvPr>
            <p:ph type="sldNum" sz="quarter" idx="5"/>
          </p:nvPr>
        </p:nvSpPr>
        <p:spPr/>
        <p:txBody>
          <a:bodyPr/>
          <a:lstStyle/>
          <a:p>
            <a:fld id="{FAD31592-3C66-914C-8F2B-350F777116DA}" type="slidenum">
              <a:rPr lang="en-BR" smtClean="0"/>
              <a:t>7</a:t>
            </a:fld>
            <a:endParaRPr lang="en-BR"/>
          </a:p>
        </p:txBody>
      </p:sp>
    </p:spTree>
    <p:extLst>
      <p:ext uri="{BB962C8B-B14F-4D97-AF65-F5344CB8AC3E}">
        <p14:creationId xmlns:p14="http://schemas.microsoft.com/office/powerpoint/2010/main" val="729214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F4567-86FE-389F-1FE8-BEEA342B2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EB691-C37E-5985-69BD-DF6AC3309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DCDA9-83C2-4179-9C12-AB2F3C8C156E}"/>
              </a:ext>
            </a:extLst>
          </p:cNvPr>
          <p:cNvSpPr>
            <a:spLocks noGrp="1"/>
          </p:cNvSpPr>
          <p:nvPr>
            <p:ph type="body" idx="1"/>
          </p:nvPr>
        </p:nvSpPr>
        <p:spPr/>
        <p:txBody>
          <a:bodyPr/>
          <a:lstStyle/>
          <a:p>
            <a:r>
              <a:rPr lang="en-US" sz="1600" dirty="0"/>
              <a:t>T</a:t>
            </a:r>
            <a:r>
              <a:rPr lang="en-BR" sz="1600" dirty="0"/>
              <a:t>he objective function takes into account both the fitting to the target and the minimization of the amount of fuel</a:t>
            </a:r>
          </a:p>
        </p:txBody>
      </p:sp>
      <p:sp>
        <p:nvSpPr>
          <p:cNvPr id="4" name="Slide Number Placeholder 3">
            <a:extLst>
              <a:ext uri="{FF2B5EF4-FFF2-40B4-BE49-F238E27FC236}">
                <a16:creationId xmlns:a16="http://schemas.microsoft.com/office/drawing/2014/main" id="{1A51BABD-0CAF-54E8-87DA-080F32787034}"/>
              </a:ext>
            </a:extLst>
          </p:cNvPr>
          <p:cNvSpPr>
            <a:spLocks noGrp="1"/>
          </p:cNvSpPr>
          <p:nvPr>
            <p:ph type="sldNum" sz="quarter" idx="5"/>
          </p:nvPr>
        </p:nvSpPr>
        <p:spPr/>
        <p:txBody>
          <a:bodyPr/>
          <a:lstStyle/>
          <a:p>
            <a:fld id="{FAD31592-3C66-914C-8F2B-350F777116DA}" type="slidenum">
              <a:rPr lang="en-BR" smtClean="0"/>
              <a:t>8</a:t>
            </a:fld>
            <a:endParaRPr lang="en-BR"/>
          </a:p>
        </p:txBody>
      </p:sp>
    </p:spTree>
    <p:extLst>
      <p:ext uri="{BB962C8B-B14F-4D97-AF65-F5344CB8AC3E}">
        <p14:creationId xmlns:p14="http://schemas.microsoft.com/office/powerpoint/2010/main" val="3438064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E2BA9-5E09-54B7-296A-D2755E622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F5AF5-7C63-3E65-3A18-95EAE5066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E2E03E-5A65-DA34-571F-1252B7C81193}"/>
              </a:ext>
            </a:extLst>
          </p:cNvPr>
          <p:cNvSpPr>
            <a:spLocks noGrp="1"/>
          </p:cNvSpPr>
          <p:nvPr>
            <p:ph type="body" idx="1"/>
          </p:nvPr>
        </p:nvSpPr>
        <p:spPr/>
        <p:txBody>
          <a:bodyPr/>
          <a:lstStyle/>
          <a:p>
            <a:r>
              <a:rPr lang="en-BR" sz="1600" dirty="0"/>
              <a:t>C: specific heat capacity (J/kg.K)</a:t>
            </a:r>
          </a:p>
          <a:p>
            <a:r>
              <a:rPr lang="en-BR" sz="1600" dirty="0"/>
              <a:t>h: specific enthalpy (kJ/kg)</a:t>
            </a:r>
          </a:p>
          <a:p>
            <a:r>
              <a:rPr lang="en-BR" sz="1600" dirty="0"/>
              <a:t>U: thermal conductance of surface area (W/K)</a:t>
            </a:r>
          </a:p>
        </p:txBody>
      </p:sp>
      <p:sp>
        <p:nvSpPr>
          <p:cNvPr id="4" name="Slide Number Placeholder 3">
            <a:extLst>
              <a:ext uri="{FF2B5EF4-FFF2-40B4-BE49-F238E27FC236}">
                <a16:creationId xmlns:a16="http://schemas.microsoft.com/office/drawing/2014/main" id="{E92D23B9-E461-2E57-747A-B2C496F2E770}"/>
              </a:ext>
            </a:extLst>
          </p:cNvPr>
          <p:cNvSpPr>
            <a:spLocks noGrp="1"/>
          </p:cNvSpPr>
          <p:nvPr>
            <p:ph type="sldNum" sz="quarter" idx="5"/>
          </p:nvPr>
        </p:nvSpPr>
        <p:spPr/>
        <p:txBody>
          <a:bodyPr/>
          <a:lstStyle/>
          <a:p>
            <a:fld id="{FAD31592-3C66-914C-8F2B-350F777116DA}" type="slidenum">
              <a:rPr lang="en-BR" smtClean="0"/>
              <a:t>9</a:t>
            </a:fld>
            <a:endParaRPr lang="en-BR"/>
          </a:p>
        </p:txBody>
      </p:sp>
    </p:spTree>
    <p:extLst>
      <p:ext uri="{BB962C8B-B14F-4D97-AF65-F5344CB8AC3E}">
        <p14:creationId xmlns:p14="http://schemas.microsoft.com/office/powerpoint/2010/main" val="147047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BD290-60DF-BF93-E244-3AA7B2571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C2530-C13E-17B2-E4EE-5410E4DC6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E722F-2EC3-2A6F-1E78-6E398A84F9A6}"/>
              </a:ext>
            </a:extLst>
          </p:cNvPr>
          <p:cNvSpPr>
            <a:spLocks noGrp="1"/>
          </p:cNvSpPr>
          <p:nvPr>
            <p:ph type="body" idx="1"/>
          </p:nvPr>
        </p:nvSpPr>
        <p:spPr/>
        <p:txBody>
          <a:bodyPr/>
          <a:lstStyle/>
          <a:p>
            <a:endParaRPr lang="en-BR" sz="1600" dirty="0"/>
          </a:p>
        </p:txBody>
      </p:sp>
      <p:sp>
        <p:nvSpPr>
          <p:cNvPr id="4" name="Slide Number Placeholder 3">
            <a:extLst>
              <a:ext uri="{FF2B5EF4-FFF2-40B4-BE49-F238E27FC236}">
                <a16:creationId xmlns:a16="http://schemas.microsoft.com/office/drawing/2014/main" id="{599C2745-A84F-AD24-4A35-B06DFC9BEBC1}"/>
              </a:ext>
            </a:extLst>
          </p:cNvPr>
          <p:cNvSpPr>
            <a:spLocks noGrp="1"/>
          </p:cNvSpPr>
          <p:nvPr>
            <p:ph type="sldNum" sz="quarter" idx="5"/>
          </p:nvPr>
        </p:nvSpPr>
        <p:spPr/>
        <p:txBody>
          <a:bodyPr/>
          <a:lstStyle/>
          <a:p>
            <a:fld id="{FAD31592-3C66-914C-8F2B-350F777116DA}" type="slidenum">
              <a:rPr lang="en-BR" smtClean="0"/>
              <a:t>10</a:t>
            </a:fld>
            <a:endParaRPr lang="en-BR"/>
          </a:p>
        </p:txBody>
      </p:sp>
    </p:spTree>
    <p:extLst>
      <p:ext uri="{BB962C8B-B14F-4D97-AF65-F5344CB8AC3E}">
        <p14:creationId xmlns:p14="http://schemas.microsoft.com/office/powerpoint/2010/main" val="104414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A73C5-ABAB-3FCA-576F-0C10CA237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A9BA4-240C-FD92-F379-2FE316EBE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94877-D5E1-5A62-B73D-FD2061C5BAE7}"/>
              </a:ext>
            </a:extLst>
          </p:cNvPr>
          <p:cNvSpPr>
            <a:spLocks noGrp="1"/>
          </p:cNvSpPr>
          <p:nvPr>
            <p:ph type="body" idx="1"/>
          </p:nvPr>
        </p:nvSpPr>
        <p:spPr/>
        <p:txBody>
          <a:bodyPr/>
          <a:lstStyle/>
          <a:p>
            <a:endParaRPr lang="en-BR" sz="1600" dirty="0"/>
          </a:p>
        </p:txBody>
      </p:sp>
      <p:sp>
        <p:nvSpPr>
          <p:cNvPr id="4" name="Slide Number Placeholder 3">
            <a:extLst>
              <a:ext uri="{FF2B5EF4-FFF2-40B4-BE49-F238E27FC236}">
                <a16:creationId xmlns:a16="http://schemas.microsoft.com/office/drawing/2014/main" id="{72A51703-CF0D-AB18-624D-46A73E065518}"/>
              </a:ext>
            </a:extLst>
          </p:cNvPr>
          <p:cNvSpPr>
            <a:spLocks noGrp="1"/>
          </p:cNvSpPr>
          <p:nvPr>
            <p:ph type="sldNum" sz="quarter" idx="5"/>
          </p:nvPr>
        </p:nvSpPr>
        <p:spPr/>
        <p:txBody>
          <a:bodyPr/>
          <a:lstStyle/>
          <a:p>
            <a:fld id="{FAD31592-3C66-914C-8F2B-350F777116DA}" type="slidenum">
              <a:rPr lang="en-BR" smtClean="0"/>
              <a:t>11</a:t>
            </a:fld>
            <a:endParaRPr lang="en-BR"/>
          </a:p>
        </p:txBody>
      </p:sp>
    </p:spTree>
    <p:extLst>
      <p:ext uri="{BB962C8B-B14F-4D97-AF65-F5344CB8AC3E}">
        <p14:creationId xmlns:p14="http://schemas.microsoft.com/office/powerpoint/2010/main" val="9479841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tx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2" name="Bildobjekt 1">
            <a:extLst>
              <a:ext uri="{FF2B5EF4-FFF2-40B4-BE49-F238E27FC236}">
                <a16:creationId xmlns:a16="http://schemas.microsoft.com/office/drawing/2014/main" id="{381138EE-6B2D-A9A1-ABEF-582C8A86199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23459167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63441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12190791"/>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759083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913489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2663736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275221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2131801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988021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292568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1215728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paring your presentation">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73512C92-439E-A01A-D5DD-EECE63EE9B11}"/>
              </a:ext>
            </a:extLst>
          </p:cNvPr>
          <p:cNvSpPr txBox="1"/>
          <p:nvPr userDrawn="1"/>
        </p:nvSpPr>
        <p:spPr>
          <a:xfrm>
            <a:off x="947738" y="2544623"/>
            <a:ext cx="4559299"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The presentation is a visual aid and will be better if the written information is brief and punchy</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Use the presentation to illustrate your message – use figures, quotes, etc.</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Cues and bullet points are often useful</a:t>
            </a:r>
          </a:p>
        </p:txBody>
      </p:sp>
      <p:sp>
        <p:nvSpPr>
          <p:cNvPr id="7" name="textruta 6">
            <a:extLst>
              <a:ext uri="{FF2B5EF4-FFF2-40B4-BE49-F238E27FC236}">
                <a16:creationId xmlns:a16="http://schemas.microsoft.com/office/drawing/2014/main" id="{A3F9ED89-B1B8-9C3C-C691-E42F30F9DFE9}"/>
              </a:ext>
            </a:extLst>
          </p:cNvPr>
          <p:cNvSpPr txBox="1"/>
          <p:nvPr userDrawn="1"/>
        </p:nvSpPr>
        <p:spPr>
          <a:xfrm>
            <a:off x="6084515" y="2544623"/>
            <a:ext cx="4637273"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Choose images/photos carefully – the right picture reinforces the message, the wrong one spoils it</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If you can’t make a coherent slide, skip it – explain in your own words instead </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Keep the presentation short. Talk instead</a:t>
            </a:r>
          </a:p>
        </p:txBody>
      </p:sp>
      <p:sp>
        <p:nvSpPr>
          <p:cNvPr id="8" name="textruta 7">
            <a:extLst>
              <a:ext uri="{FF2B5EF4-FFF2-40B4-BE49-F238E27FC236}">
                <a16:creationId xmlns:a16="http://schemas.microsoft.com/office/drawing/2014/main" id="{FFB6DB86-71A6-8FB0-0835-66FC238AC4B9}"/>
              </a:ext>
            </a:extLst>
          </p:cNvPr>
          <p:cNvSpPr txBox="1"/>
          <p:nvPr userDrawn="1"/>
        </p:nvSpPr>
        <p:spPr>
          <a:xfrm>
            <a:off x="947738" y="1890199"/>
            <a:ext cx="4559299" cy="361637"/>
          </a:xfrm>
          <a:prstGeom prst="rect">
            <a:avLst/>
          </a:prstGeom>
          <a:noFill/>
        </p:spPr>
        <p:txBody>
          <a:bodyPr wrap="square" rtlCol="0">
            <a:spAutoFit/>
          </a:bodyPr>
          <a:lstStyle/>
          <a:p>
            <a:pPr lvl="0">
              <a:lnSpc>
                <a:spcPts val="2120"/>
              </a:lnSpc>
              <a:spcBef>
                <a:spcPts val="300"/>
              </a:spcBef>
            </a:pPr>
            <a:r>
              <a:rPr lang="en-GB" kern="100" noProof="0">
                <a:effectLst/>
                <a:latin typeface="Work Sans" pitchFamily="2" charset="77"/>
                <a:ea typeface="Calibri" panose="020F0502020204030204" pitchFamily="34" charset="0"/>
                <a:cs typeface="Times New Roman" panose="02020603050405020304" pitchFamily="18" charset="0"/>
              </a:rPr>
              <a:t>Bear in mind:</a:t>
            </a:r>
          </a:p>
        </p:txBody>
      </p:sp>
      <p:sp>
        <p:nvSpPr>
          <p:cNvPr id="9" name="textruta 8">
            <a:extLst>
              <a:ext uri="{FF2B5EF4-FFF2-40B4-BE49-F238E27FC236}">
                <a16:creationId xmlns:a16="http://schemas.microsoft.com/office/drawing/2014/main" id="{A24D50C7-2824-5A60-8126-6E551E176684}"/>
              </a:ext>
            </a:extLst>
          </p:cNvPr>
          <p:cNvSpPr txBox="1"/>
          <p:nvPr userDrawn="1"/>
        </p:nvSpPr>
        <p:spPr>
          <a:xfrm>
            <a:off x="947738" y="899447"/>
            <a:ext cx="7774921" cy="579646"/>
          </a:xfrm>
          <a:prstGeom prst="rect">
            <a:avLst/>
          </a:prstGeom>
          <a:noFill/>
        </p:spPr>
        <p:txBody>
          <a:bodyPr wrap="square" rtlCol="0">
            <a:spAutoFit/>
          </a:bodyPr>
          <a:lstStyle/>
          <a:p>
            <a:pPr lvl="0">
              <a:lnSpc>
                <a:spcPts val="3840"/>
              </a:lnSpc>
            </a:pPr>
            <a:r>
              <a:rPr lang="en-GB" sz="3200" kern="100" noProof="0">
                <a:effectLst/>
                <a:latin typeface="Work Sans" pitchFamily="2" charset="77"/>
                <a:ea typeface="Calibri" panose="020F0502020204030204" pitchFamily="34" charset="0"/>
                <a:cs typeface="Times New Roman" panose="02020603050405020304" pitchFamily="18" charset="0"/>
              </a:rPr>
              <a:t>Preparing your presentation</a:t>
            </a:r>
          </a:p>
        </p:txBody>
      </p:sp>
    </p:spTree>
    <p:extLst>
      <p:ext uri="{BB962C8B-B14F-4D97-AF65-F5344CB8AC3E}">
        <p14:creationId xmlns:p14="http://schemas.microsoft.com/office/powerpoint/2010/main" val="1345743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8EB50238-E622-CC4D-E865-CA7D7EF35C9E}"/>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46DB352F-69A9-1E92-AAD7-901A1A1F9054}"/>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2013/2016.</a:t>
            </a:r>
          </a:p>
        </p:txBody>
      </p:sp>
      <p:sp>
        <p:nvSpPr>
          <p:cNvPr id="8" name="textruta 7">
            <a:extLst>
              <a:ext uri="{FF2B5EF4-FFF2-40B4-BE49-F238E27FC236}">
                <a16:creationId xmlns:a16="http://schemas.microsoft.com/office/drawing/2014/main" id="{DA13882F-AF79-0DD9-0229-90F3341A13E5}"/>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4DBAB48A-0207-EBBB-5144-24A47388C7DA}"/>
              </a:ext>
            </a:extLst>
          </p:cNvPr>
          <p:cNvSpPr txBox="1"/>
          <p:nvPr userDrawn="1"/>
        </p:nvSpPr>
        <p:spPr>
          <a:xfrm>
            <a:off x="5549719" y="2600794"/>
            <a:ext cx="4234721" cy="3554819"/>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an object in the file.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Choosing the "Format" tab that appears on the right side of the ribbon.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"Selection Pane" in the "Arrange" group.</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one or more objects in the list.</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selection upward or downward, or clicking the "Up" button.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32D64C20-E0EC-50ED-8276-1342580DEAE9}"/>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E6A6CDBB-9355-D585-CAEB-E68FDC04C402}"/>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350348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0A51E754-9C7A-11C0-D983-A8276233FD20}"/>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9AB3E6E3-4894-429E-071D-F50345A149E8}"/>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365 or Office 2019.</a:t>
            </a:r>
          </a:p>
        </p:txBody>
      </p:sp>
      <p:sp>
        <p:nvSpPr>
          <p:cNvPr id="8" name="textruta 7">
            <a:extLst>
              <a:ext uri="{FF2B5EF4-FFF2-40B4-BE49-F238E27FC236}">
                <a16:creationId xmlns:a16="http://schemas.microsoft.com/office/drawing/2014/main" id="{37E57577-6FE9-C8F8-56EA-64EB95087ADD}"/>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784D433E-62E1-750A-6876-97EF3EB623C3}"/>
              </a:ext>
            </a:extLst>
          </p:cNvPr>
          <p:cNvSpPr txBox="1"/>
          <p:nvPr userDrawn="1"/>
        </p:nvSpPr>
        <p:spPr>
          <a:xfrm>
            <a:off x="5549719" y="2600794"/>
            <a:ext cx="4234721" cy="2708434"/>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On the </a:t>
            </a:r>
            <a:r>
              <a:rPr lang="en-GB" sz="1000" i="1" noProof="0">
                <a:latin typeface="Work Sans" pitchFamily="2" charset="77"/>
              </a:rPr>
              <a:t>Home</a:t>
            </a:r>
            <a:r>
              <a:rPr lang="en-GB" sz="1000" noProof="0">
                <a:latin typeface="Work Sans" pitchFamily="2" charset="77"/>
              </a:rPr>
              <a:t> tab, select </a:t>
            </a:r>
            <a:r>
              <a:rPr lang="en-GB" sz="1000" i="1" noProof="0">
                <a:latin typeface="Work Sans" pitchFamily="2" charset="77"/>
              </a:rPr>
              <a:t>Arrange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From the </a:t>
            </a:r>
            <a:r>
              <a:rPr lang="en-GB" sz="1000" i="1" noProof="0">
                <a:latin typeface="Work Sans" pitchFamily="2" charset="77"/>
              </a:rPr>
              <a:t>Arrange </a:t>
            </a:r>
            <a:r>
              <a:rPr lang="en-GB" sz="1000" noProof="0">
                <a:latin typeface="Work Sans" pitchFamily="2" charset="77"/>
              </a:rPr>
              <a:t>menu, choose "Selection Pane.“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A tab will open on the right side of the window. Drag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428F5CB4-3C8B-C8B1-437D-FEBDF5863F8A}"/>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DD22A84C-EFA4-C49C-D348-83942967797F}"/>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1528221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EDEDED"/>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6809556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503649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698348269"/>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847532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126262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34675291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924942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4185823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123184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5918894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8642783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BFBFBF"/>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18763686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841879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413597319"/>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538767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510606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42629048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207153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16594225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5564123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endParaRPr lang="en-GB" noProof="0"/>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7049692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1809187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endParaRPr lang="en-GB" noProof="0"/>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3F0079B0-5728-4257-7917-99D48BD014B6}"/>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34268216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5" r:id="rId12"/>
    <p:sldLayoutId id="2147483663" r:id="rId13"/>
    <p:sldLayoutId id="2147483664" r:id="rId14"/>
  </p:sldLayoutIdLst>
  <p:hf hdr="0" ftr="0" dt="0"/>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EDED"/>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endParaRPr lang="en-GB" noProof="0"/>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40759002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ftr="0" dt="0"/>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FBFBF"/>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endParaRPr lang="en-GB" noProof="0"/>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381332183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dt="0"/>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122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2895A9CD-2173-0F7E-CD30-403441B6EF0E}"/>
              </a:ext>
            </a:extLst>
          </p:cNvPr>
          <p:cNvSpPr>
            <a:spLocks noGrp="1"/>
          </p:cNvSpPr>
          <p:nvPr>
            <p:ph type="title"/>
          </p:nvPr>
        </p:nvSpPr>
        <p:spPr>
          <a:xfrm>
            <a:off x="6743700" y="1844674"/>
            <a:ext cx="4114800" cy="2035834"/>
          </a:xfrm>
        </p:spPr>
        <p:txBody>
          <a:bodyPr anchor="t">
            <a:noAutofit/>
          </a:bodyPr>
          <a:lstStyle/>
          <a:p>
            <a:r>
              <a:rPr lang="en-GB" sz="2400" dirty="0"/>
              <a:t>Mini Project</a:t>
            </a:r>
            <a:br>
              <a:rPr lang="en-GB" sz="2400" dirty="0"/>
            </a:br>
            <a:r>
              <a:rPr lang="en-GB" sz="1800" dirty="0"/>
              <a:t>Lagrangian multiplier applied to dynamic heating systems</a:t>
            </a:r>
          </a:p>
        </p:txBody>
      </p:sp>
      <p:sp>
        <p:nvSpPr>
          <p:cNvPr id="4" name="Platshållare för text 3">
            <a:extLst>
              <a:ext uri="{FF2B5EF4-FFF2-40B4-BE49-F238E27FC236}">
                <a16:creationId xmlns:a16="http://schemas.microsoft.com/office/drawing/2014/main" id="{C162BD88-49B4-958C-CA27-30C297CEFF0B}"/>
              </a:ext>
            </a:extLst>
          </p:cNvPr>
          <p:cNvSpPr>
            <a:spLocks noGrp="1"/>
          </p:cNvSpPr>
          <p:nvPr>
            <p:ph type="body" sz="quarter" idx="14"/>
          </p:nvPr>
        </p:nvSpPr>
        <p:spPr>
          <a:xfrm>
            <a:off x="6743700" y="3880508"/>
            <a:ext cx="4114800" cy="1459243"/>
          </a:xfrm>
        </p:spPr>
        <p:txBody>
          <a:bodyPr>
            <a:normAutofit/>
          </a:bodyPr>
          <a:lstStyle/>
          <a:p>
            <a:pPr>
              <a:spcAft>
                <a:spcPts val="600"/>
              </a:spcAft>
            </a:pPr>
            <a:endParaRPr lang="en-GB" dirty="0"/>
          </a:p>
          <a:p>
            <a:pPr>
              <a:spcAft>
                <a:spcPts val="600"/>
              </a:spcAft>
            </a:pPr>
            <a:r>
              <a:rPr lang="en-GB" dirty="0"/>
              <a:t>Leandro Morita</a:t>
            </a:r>
          </a:p>
          <a:p>
            <a:pPr>
              <a:spcAft>
                <a:spcPts val="600"/>
              </a:spcAft>
            </a:pPr>
            <a:r>
              <a:rPr lang="en-GB" dirty="0"/>
              <a:t>Arsen Zakaryan</a:t>
            </a:r>
          </a:p>
        </p:txBody>
      </p:sp>
      <p:sp>
        <p:nvSpPr>
          <p:cNvPr id="2" name="Slide Number Placeholder 1">
            <a:extLst>
              <a:ext uri="{FF2B5EF4-FFF2-40B4-BE49-F238E27FC236}">
                <a16:creationId xmlns:a16="http://schemas.microsoft.com/office/drawing/2014/main" id="{DCE020EA-77D6-F770-34F8-143056D327A6}"/>
              </a:ext>
            </a:extLst>
          </p:cNvPr>
          <p:cNvSpPr>
            <a:spLocks noGrp="1"/>
          </p:cNvSpPr>
          <p:nvPr>
            <p:ph type="sldNum" sz="quarter" idx="12"/>
          </p:nvPr>
        </p:nvSpPr>
        <p:spPr/>
        <p:txBody>
          <a:bodyPr/>
          <a:lstStyle/>
          <a:p>
            <a:fld id="{B716C8F4-20CD-364A-8A8E-DE130115B178}" type="slidenum">
              <a:rPr lang="en-GB" sz="900" noProof="0" smtClean="0"/>
              <a:pPr/>
              <a:t>2</a:t>
            </a:fld>
            <a:endParaRPr lang="en-GB" sz="900" noProof="0"/>
          </a:p>
        </p:txBody>
      </p:sp>
      <p:pic>
        <p:nvPicPr>
          <p:cNvPr id="7" name="Picture 6">
            <a:extLst>
              <a:ext uri="{FF2B5EF4-FFF2-40B4-BE49-F238E27FC236}">
                <a16:creationId xmlns:a16="http://schemas.microsoft.com/office/drawing/2014/main" id="{9872BCEA-8B60-78C5-B195-164EA5B2E267}"/>
              </a:ext>
            </a:extLst>
          </p:cNvPr>
          <p:cNvPicPr>
            <a:picLocks noChangeAspect="1"/>
          </p:cNvPicPr>
          <p:nvPr/>
        </p:nvPicPr>
        <p:blipFill>
          <a:blip r:embed="rId2"/>
          <a:srcRect l="16213" r="16213"/>
          <a:stretch/>
        </p:blipFill>
        <p:spPr>
          <a:xfrm>
            <a:off x="11151" y="0"/>
            <a:ext cx="6248400" cy="6858000"/>
          </a:xfrm>
          <a:prstGeom prst="rect">
            <a:avLst/>
          </a:prstGeom>
        </p:spPr>
      </p:pic>
    </p:spTree>
    <p:extLst>
      <p:ext uri="{BB962C8B-B14F-4D97-AF65-F5344CB8AC3E}">
        <p14:creationId xmlns:p14="http://schemas.microsoft.com/office/powerpoint/2010/main" val="1301646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D3C5-668E-9E11-1D34-818BD4A352F3}"/>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0BA64DA7-295C-ED63-32B3-6DDB3EBEC3E8}"/>
              </a:ext>
            </a:extLst>
          </p:cNvPr>
          <p:cNvSpPr>
            <a:spLocks noGrp="1"/>
          </p:cNvSpPr>
          <p:nvPr>
            <p:ph type="title"/>
          </p:nvPr>
        </p:nvSpPr>
        <p:spPr>
          <a:xfrm>
            <a:off x="947739" y="836612"/>
            <a:ext cx="6440614" cy="1248219"/>
          </a:xfrm>
        </p:spPr>
        <p:txBody>
          <a:bodyPr/>
          <a:lstStyle/>
          <a:p>
            <a:r>
              <a:rPr lang="en-GB" sz="3200" dirty="0">
                <a:latin typeface="Work Sans" pitchFamily="2" charset="77"/>
              </a:rPr>
              <a:t>Agenda</a:t>
            </a:r>
            <a:endParaRPr lang="en-GB" dirty="0"/>
          </a:p>
        </p:txBody>
      </p:sp>
      <p:sp>
        <p:nvSpPr>
          <p:cNvPr id="3" name="Slide Number Placeholder 2">
            <a:extLst>
              <a:ext uri="{FF2B5EF4-FFF2-40B4-BE49-F238E27FC236}">
                <a16:creationId xmlns:a16="http://schemas.microsoft.com/office/drawing/2014/main" id="{2386697A-E928-7134-081D-B4B12CF0A0FC}"/>
              </a:ext>
            </a:extLst>
          </p:cNvPr>
          <p:cNvSpPr>
            <a:spLocks noGrp="1"/>
          </p:cNvSpPr>
          <p:nvPr>
            <p:ph type="sldNum" sz="quarter" idx="12"/>
          </p:nvPr>
        </p:nvSpPr>
        <p:spPr/>
        <p:txBody>
          <a:bodyPr/>
          <a:lstStyle/>
          <a:p>
            <a:fld id="{B716C8F4-20CD-364A-8A8E-DE130115B178}" type="slidenum">
              <a:rPr lang="en-GB" sz="900" noProof="0" smtClean="0"/>
              <a:pPr/>
              <a:t>3</a:t>
            </a:fld>
            <a:endParaRPr lang="en-GB" sz="900" noProof="0"/>
          </a:p>
        </p:txBody>
      </p:sp>
      <p:sp>
        <p:nvSpPr>
          <p:cNvPr id="7" name="Platshållare för innehåll 2">
            <a:extLst>
              <a:ext uri="{FF2B5EF4-FFF2-40B4-BE49-F238E27FC236}">
                <a16:creationId xmlns:a16="http://schemas.microsoft.com/office/drawing/2014/main" id="{A21B6F35-51E6-CDD4-14D4-A4133E6D78F2}"/>
              </a:ext>
            </a:extLst>
          </p:cNvPr>
          <p:cNvSpPr txBox="1">
            <a:spLocks/>
          </p:cNvSpPr>
          <p:nvPr/>
        </p:nvSpPr>
        <p:spPr>
          <a:xfrm>
            <a:off x="947738" y="2528887"/>
            <a:ext cx="4559300" cy="3944441"/>
          </a:xfrm>
          <a:prstGeom prst="rect">
            <a:avLst/>
          </a:prstGeom>
        </p:spPr>
        <p:txBody>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sz="1800" dirty="0">
                <a:solidFill>
                  <a:schemeClr val="tx1"/>
                </a:solidFill>
              </a:rPr>
              <a:t>Context</a:t>
            </a:r>
          </a:p>
          <a:p>
            <a:pPr marL="285750" indent="-285750">
              <a:lnSpc>
                <a:spcPct val="150000"/>
              </a:lnSpc>
            </a:pPr>
            <a:r>
              <a:rPr lang="en-US" sz="1800" dirty="0">
                <a:solidFill>
                  <a:schemeClr val="tx1"/>
                </a:solidFill>
              </a:rPr>
              <a:t>Objective function</a:t>
            </a:r>
          </a:p>
          <a:p>
            <a:pPr marL="285750" indent="-285750">
              <a:lnSpc>
                <a:spcPct val="150000"/>
              </a:lnSpc>
            </a:pPr>
            <a:r>
              <a:rPr lang="en-US" sz="1800" dirty="0">
                <a:solidFill>
                  <a:schemeClr val="tx1"/>
                </a:solidFill>
              </a:rPr>
              <a:t>Constraints</a:t>
            </a:r>
          </a:p>
          <a:p>
            <a:pPr marL="285750" indent="-285750">
              <a:lnSpc>
                <a:spcPct val="150000"/>
              </a:lnSpc>
            </a:pPr>
            <a:r>
              <a:rPr lang="en-US" sz="1800" dirty="0">
                <a:solidFill>
                  <a:schemeClr val="tx1"/>
                </a:solidFill>
              </a:rPr>
              <a:t>Putting it all together</a:t>
            </a:r>
          </a:p>
          <a:p>
            <a:pPr marL="285750" indent="-285750">
              <a:lnSpc>
                <a:spcPct val="150000"/>
              </a:lnSpc>
            </a:pPr>
            <a:r>
              <a:rPr lang="en-US" sz="1800" dirty="0">
                <a:solidFill>
                  <a:schemeClr val="tx1"/>
                </a:solidFill>
              </a:rPr>
              <a:t>Example</a:t>
            </a:r>
          </a:p>
        </p:txBody>
      </p:sp>
    </p:spTree>
    <p:extLst>
      <p:ext uri="{BB962C8B-B14F-4D97-AF65-F5344CB8AC3E}">
        <p14:creationId xmlns:p14="http://schemas.microsoft.com/office/powerpoint/2010/main" val="126079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A8D1-4F85-7F18-D250-86D6C0FBBDD2}"/>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9581FE4C-7C39-5189-05A4-D134CF5BEE90}"/>
              </a:ext>
            </a:extLst>
          </p:cNvPr>
          <p:cNvSpPr>
            <a:spLocks noGrp="1"/>
          </p:cNvSpPr>
          <p:nvPr>
            <p:ph type="title"/>
          </p:nvPr>
        </p:nvSpPr>
        <p:spPr/>
        <p:txBody>
          <a:bodyPr/>
          <a:lstStyle/>
          <a:p>
            <a:r>
              <a:rPr lang="en-GB" sz="3200"/>
              <a:t>Context</a:t>
            </a:r>
            <a:endParaRPr lang="en-GB" dirty="0"/>
          </a:p>
        </p:txBody>
      </p:sp>
      <p:sp>
        <p:nvSpPr>
          <p:cNvPr id="4" name="Slide Number Placeholder 3">
            <a:extLst>
              <a:ext uri="{FF2B5EF4-FFF2-40B4-BE49-F238E27FC236}">
                <a16:creationId xmlns:a16="http://schemas.microsoft.com/office/drawing/2014/main" id="{5D2DD94D-0AF2-9E35-363A-5B7CBDEBD868}"/>
              </a:ext>
            </a:extLst>
          </p:cNvPr>
          <p:cNvSpPr>
            <a:spLocks noGrp="1"/>
          </p:cNvSpPr>
          <p:nvPr>
            <p:ph type="sldNum" sz="quarter" idx="12"/>
          </p:nvPr>
        </p:nvSpPr>
        <p:spPr/>
        <p:txBody>
          <a:bodyPr/>
          <a:lstStyle/>
          <a:p>
            <a:fld id="{B716C8F4-20CD-364A-8A8E-DE130115B178}" type="slidenum">
              <a:rPr lang="en-GB" sz="900" noProof="0" smtClean="0"/>
              <a:pPr/>
              <a:t>4</a:t>
            </a:fld>
            <a:endParaRPr lang="en-GB" sz="900" noProof="0" dirty="0"/>
          </a:p>
        </p:txBody>
      </p:sp>
      <p:pic>
        <p:nvPicPr>
          <p:cNvPr id="19" name="Content Placeholder 18">
            <a:extLst>
              <a:ext uri="{FF2B5EF4-FFF2-40B4-BE49-F238E27FC236}">
                <a16:creationId xmlns:a16="http://schemas.microsoft.com/office/drawing/2014/main" id="{B35DD51E-EEA4-2DCC-9B17-3D7E5C92781A}"/>
              </a:ext>
            </a:extLst>
          </p:cNvPr>
          <p:cNvPicPr>
            <a:picLocks noGrp="1" noChangeAspect="1"/>
          </p:cNvPicPr>
          <p:nvPr>
            <p:ph sz="quarter" idx="16"/>
          </p:nvPr>
        </p:nvPicPr>
        <p:blipFill>
          <a:blip r:embed="rId3"/>
          <a:srcRect/>
          <a:stretch/>
        </p:blipFill>
        <p:spPr>
          <a:xfrm>
            <a:off x="4295333" y="1492295"/>
            <a:ext cx="5748076" cy="4860972"/>
          </a:xfrm>
          <a:prstGeom prst="rect">
            <a:avLst/>
          </a:prstGeom>
        </p:spPr>
      </p:pic>
      <p:sp>
        <p:nvSpPr>
          <p:cNvPr id="20" name="Content Placeholder 6">
            <a:extLst>
              <a:ext uri="{FF2B5EF4-FFF2-40B4-BE49-F238E27FC236}">
                <a16:creationId xmlns:a16="http://schemas.microsoft.com/office/drawing/2014/main" id="{1967F4D0-86CC-3636-F1C3-67EC086C2842}"/>
              </a:ext>
            </a:extLst>
          </p:cNvPr>
          <p:cNvSpPr txBox="1">
            <a:spLocks/>
          </p:cNvSpPr>
          <p:nvPr/>
        </p:nvSpPr>
        <p:spPr>
          <a:xfrm>
            <a:off x="946800" y="2147977"/>
            <a:ext cx="2965633" cy="2058280"/>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tx1"/>
                </a:solidFill>
              </a:rPr>
              <a:t>Goal: </a:t>
            </a:r>
            <a:r>
              <a:rPr lang="en-US" sz="1800" b="1" dirty="0">
                <a:solidFill>
                  <a:srgbClr val="00B050"/>
                </a:solidFill>
              </a:rPr>
              <a:t>minimize the amount of fuel </a:t>
            </a:r>
            <a:r>
              <a:rPr lang="en-US" sz="1800" dirty="0">
                <a:solidFill>
                  <a:schemeClr val="tx1"/>
                </a:solidFill>
              </a:rPr>
              <a:t>(heat source) so the </a:t>
            </a:r>
            <a:r>
              <a:rPr lang="en-US" sz="1800" b="1" dirty="0">
                <a:solidFill>
                  <a:schemeClr val="tx1"/>
                </a:solidFill>
              </a:rPr>
              <a:t>internal temperature </a:t>
            </a:r>
            <a:r>
              <a:rPr lang="en-US" sz="1800" dirty="0">
                <a:solidFill>
                  <a:schemeClr val="tx1"/>
                </a:solidFill>
              </a:rPr>
              <a:t>follows the </a:t>
            </a:r>
            <a:r>
              <a:rPr lang="en-US" sz="1800" b="1" dirty="0">
                <a:solidFill>
                  <a:srgbClr val="C00000"/>
                </a:solidFill>
              </a:rPr>
              <a:t>target temperature </a:t>
            </a:r>
            <a:r>
              <a:rPr lang="en-US" sz="1800" dirty="0">
                <a:solidFill>
                  <a:schemeClr val="tx1"/>
                </a:solidFill>
              </a:rPr>
              <a:t>considering the </a:t>
            </a:r>
            <a:r>
              <a:rPr lang="en-US" sz="1800" b="1" dirty="0">
                <a:solidFill>
                  <a:srgbClr val="0070C0"/>
                </a:solidFill>
              </a:rPr>
              <a:t>system losses</a:t>
            </a:r>
          </a:p>
        </p:txBody>
      </p:sp>
    </p:spTree>
    <p:extLst>
      <p:ext uri="{BB962C8B-B14F-4D97-AF65-F5344CB8AC3E}">
        <p14:creationId xmlns:p14="http://schemas.microsoft.com/office/powerpoint/2010/main" val="3678091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AC545-3569-AD8A-E44E-484C5424335F}"/>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9FC6A130-103F-BA75-BB66-6508308D30A8}"/>
              </a:ext>
            </a:extLst>
          </p:cNvPr>
          <p:cNvSpPr>
            <a:spLocks noGrp="1"/>
          </p:cNvSpPr>
          <p:nvPr>
            <p:ph type="title"/>
          </p:nvPr>
        </p:nvSpPr>
        <p:spPr/>
        <p:txBody>
          <a:bodyPr/>
          <a:lstStyle/>
          <a:p>
            <a:r>
              <a:rPr lang="en-GB" sz="3200"/>
              <a:t>Context</a:t>
            </a:r>
            <a:endParaRPr lang="en-GB" dirty="0"/>
          </a:p>
        </p:txBody>
      </p:sp>
      <p:sp>
        <p:nvSpPr>
          <p:cNvPr id="4" name="Slide Number Placeholder 3">
            <a:extLst>
              <a:ext uri="{FF2B5EF4-FFF2-40B4-BE49-F238E27FC236}">
                <a16:creationId xmlns:a16="http://schemas.microsoft.com/office/drawing/2014/main" id="{8B9886C8-9757-0E86-1ACF-3DFC84B7733C}"/>
              </a:ext>
            </a:extLst>
          </p:cNvPr>
          <p:cNvSpPr>
            <a:spLocks noGrp="1"/>
          </p:cNvSpPr>
          <p:nvPr>
            <p:ph type="sldNum" sz="quarter" idx="12"/>
          </p:nvPr>
        </p:nvSpPr>
        <p:spPr/>
        <p:txBody>
          <a:bodyPr/>
          <a:lstStyle/>
          <a:p>
            <a:fld id="{B716C8F4-20CD-364A-8A8E-DE130115B178}" type="slidenum">
              <a:rPr lang="en-GB" sz="900" noProof="0" smtClean="0"/>
              <a:pPr/>
              <a:t>5</a:t>
            </a:fld>
            <a:endParaRPr lang="en-GB" sz="900" noProof="0" dirty="0"/>
          </a:p>
        </p:txBody>
      </p:sp>
      <p:pic>
        <p:nvPicPr>
          <p:cNvPr id="19" name="Content Placeholder 18">
            <a:extLst>
              <a:ext uri="{FF2B5EF4-FFF2-40B4-BE49-F238E27FC236}">
                <a16:creationId xmlns:a16="http://schemas.microsoft.com/office/drawing/2014/main" id="{306C7349-C5CD-3981-FE10-8CC19A65BBA4}"/>
              </a:ext>
            </a:extLst>
          </p:cNvPr>
          <p:cNvPicPr>
            <a:picLocks noGrp="1" noChangeAspect="1"/>
          </p:cNvPicPr>
          <p:nvPr>
            <p:ph sz="quarter" idx="16"/>
          </p:nvPr>
        </p:nvPicPr>
        <p:blipFill>
          <a:blip r:embed="rId3"/>
          <a:srcRect/>
          <a:stretch/>
        </p:blipFill>
        <p:spPr>
          <a:xfrm>
            <a:off x="4295333" y="1492295"/>
            <a:ext cx="5748076" cy="4860972"/>
          </a:xfrm>
          <a:prstGeom prst="rect">
            <a:avLst/>
          </a:prstGeom>
        </p:spPr>
      </p:pic>
      <p:sp>
        <p:nvSpPr>
          <p:cNvPr id="20" name="Content Placeholder 6">
            <a:extLst>
              <a:ext uri="{FF2B5EF4-FFF2-40B4-BE49-F238E27FC236}">
                <a16:creationId xmlns:a16="http://schemas.microsoft.com/office/drawing/2014/main" id="{676F5FD2-EC08-3555-B81D-8E029B6607D9}"/>
              </a:ext>
            </a:extLst>
          </p:cNvPr>
          <p:cNvSpPr txBox="1">
            <a:spLocks/>
          </p:cNvSpPr>
          <p:nvPr/>
        </p:nvSpPr>
        <p:spPr>
          <a:xfrm>
            <a:off x="946800" y="2147977"/>
            <a:ext cx="2965633" cy="2058280"/>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tx1"/>
                </a:solidFill>
              </a:rPr>
              <a:t>Goal: </a:t>
            </a:r>
            <a:r>
              <a:rPr lang="en-US" sz="1800" b="1" dirty="0">
                <a:solidFill>
                  <a:srgbClr val="00B050"/>
                </a:solidFill>
              </a:rPr>
              <a:t>minimize the amount of fuel </a:t>
            </a:r>
            <a:r>
              <a:rPr lang="en-US" sz="1800" dirty="0">
                <a:solidFill>
                  <a:schemeClr val="tx1"/>
                </a:solidFill>
              </a:rPr>
              <a:t>(heat source) so the </a:t>
            </a:r>
            <a:r>
              <a:rPr lang="en-US" sz="1800" b="1" dirty="0">
                <a:solidFill>
                  <a:schemeClr val="tx1"/>
                </a:solidFill>
              </a:rPr>
              <a:t>internal temperature </a:t>
            </a:r>
            <a:r>
              <a:rPr lang="en-US" sz="1800" dirty="0">
                <a:solidFill>
                  <a:schemeClr val="tx1"/>
                </a:solidFill>
              </a:rPr>
              <a:t>follows the </a:t>
            </a:r>
            <a:r>
              <a:rPr lang="en-US" sz="1800" b="1" dirty="0">
                <a:solidFill>
                  <a:srgbClr val="C00000"/>
                </a:solidFill>
              </a:rPr>
              <a:t>target temperature </a:t>
            </a:r>
            <a:r>
              <a:rPr lang="en-US" sz="1800" dirty="0">
                <a:solidFill>
                  <a:schemeClr val="tx1"/>
                </a:solidFill>
              </a:rPr>
              <a:t>considering the </a:t>
            </a:r>
            <a:r>
              <a:rPr lang="en-US" sz="1800" b="1" dirty="0">
                <a:solidFill>
                  <a:srgbClr val="0070C0"/>
                </a:solidFill>
              </a:rPr>
              <a:t>system losses</a:t>
            </a:r>
          </a:p>
        </p:txBody>
      </p:sp>
      <p:pic>
        <p:nvPicPr>
          <p:cNvPr id="22" name="Picture 21">
            <a:extLst>
              <a:ext uri="{FF2B5EF4-FFF2-40B4-BE49-F238E27FC236}">
                <a16:creationId xmlns:a16="http://schemas.microsoft.com/office/drawing/2014/main" id="{6D662D0A-B905-BA4B-54AD-194CBC1393FC}"/>
              </a:ext>
            </a:extLst>
          </p:cNvPr>
          <p:cNvPicPr>
            <a:picLocks noChangeAspect="1"/>
          </p:cNvPicPr>
          <p:nvPr/>
        </p:nvPicPr>
        <p:blipFill>
          <a:blip r:embed="rId4"/>
          <a:srcRect/>
          <a:stretch/>
        </p:blipFill>
        <p:spPr>
          <a:xfrm>
            <a:off x="9007402" y="4793298"/>
            <a:ext cx="2382352" cy="1620000"/>
          </a:xfrm>
          <a:prstGeom prst="rect">
            <a:avLst/>
          </a:prstGeom>
        </p:spPr>
      </p:pic>
      <p:cxnSp>
        <p:nvCxnSpPr>
          <p:cNvPr id="28" name="Straight Arrow Connector 27">
            <a:extLst>
              <a:ext uri="{FF2B5EF4-FFF2-40B4-BE49-F238E27FC236}">
                <a16:creationId xmlns:a16="http://schemas.microsoft.com/office/drawing/2014/main" id="{41A132F4-1D59-CB34-2841-B3C8599A292F}"/>
              </a:ext>
            </a:extLst>
          </p:cNvPr>
          <p:cNvCxnSpPr>
            <a:cxnSpLocks/>
          </p:cNvCxnSpPr>
          <p:nvPr/>
        </p:nvCxnSpPr>
        <p:spPr>
          <a:xfrm flipH="1">
            <a:off x="7517623" y="5603298"/>
            <a:ext cx="1331102" cy="302827"/>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0100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70EC8-C282-B7FE-D452-C8DCBA6BF142}"/>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24F6ADE0-434B-5041-F27D-36B05AFA55A4}"/>
              </a:ext>
            </a:extLst>
          </p:cNvPr>
          <p:cNvSpPr>
            <a:spLocks noGrp="1"/>
          </p:cNvSpPr>
          <p:nvPr>
            <p:ph type="title"/>
          </p:nvPr>
        </p:nvSpPr>
        <p:spPr/>
        <p:txBody>
          <a:bodyPr/>
          <a:lstStyle/>
          <a:p>
            <a:r>
              <a:rPr lang="en-GB" sz="3200"/>
              <a:t>Context</a:t>
            </a:r>
            <a:endParaRPr lang="en-GB" dirty="0"/>
          </a:p>
        </p:txBody>
      </p:sp>
      <p:sp>
        <p:nvSpPr>
          <p:cNvPr id="4" name="Slide Number Placeholder 3">
            <a:extLst>
              <a:ext uri="{FF2B5EF4-FFF2-40B4-BE49-F238E27FC236}">
                <a16:creationId xmlns:a16="http://schemas.microsoft.com/office/drawing/2014/main" id="{80ECB369-E6A8-E99B-B567-BD8F3092BB19}"/>
              </a:ext>
            </a:extLst>
          </p:cNvPr>
          <p:cNvSpPr>
            <a:spLocks noGrp="1"/>
          </p:cNvSpPr>
          <p:nvPr>
            <p:ph type="sldNum" sz="quarter" idx="12"/>
          </p:nvPr>
        </p:nvSpPr>
        <p:spPr/>
        <p:txBody>
          <a:bodyPr/>
          <a:lstStyle/>
          <a:p>
            <a:fld id="{B716C8F4-20CD-364A-8A8E-DE130115B178}" type="slidenum">
              <a:rPr lang="en-GB" sz="900" noProof="0" smtClean="0"/>
              <a:pPr/>
              <a:t>6</a:t>
            </a:fld>
            <a:endParaRPr lang="en-GB" sz="900" noProof="0" dirty="0"/>
          </a:p>
        </p:txBody>
      </p:sp>
      <p:pic>
        <p:nvPicPr>
          <p:cNvPr id="19" name="Content Placeholder 18">
            <a:extLst>
              <a:ext uri="{FF2B5EF4-FFF2-40B4-BE49-F238E27FC236}">
                <a16:creationId xmlns:a16="http://schemas.microsoft.com/office/drawing/2014/main" id="{1F617444-2B6C-136E-6B61-55295915048F}"/>
              </a:ext>
            </a:extLst>
          </p:cNvPr>
          <p:cNvPicPr>
            <a:picLocks noGrp="1" noChangeAspect="1"/>
          </p:cNvPicPr>
          <p:nvPr>
            <p:ph sz="quarter" idx="16"/>
          </p:nvPr>
        </p:nvPicPr>
        <p:blipFill>
          <a:blip r:embed="rId3"/>
          <a:srcRect/>
          <a:stretch/>
        </p:blipFill>
        <p:spPr>
          <a:xfrm>
            <a:off x="4295333" y="1492295"/>
            <a:ext cx="5748076" cy="4860972"/>
          </a:xfrm>
          <a:prstGeom prst="rect">
            <a:avLst/>
          </a:prstGeom>
        </p:spPr>
      </p:pic>
      <p:sp>
        <p:nvSpPr>
          <p:cNvPr id="20" name="Content Placeholder 6">
            <a:extLst>
              <a:ext uri="{FF2B5EF4-FFF2-40B4-BE49-F238E27FC236}">
                <a16:creationId xmlns:a16="http://schemas.microsoft.com/office/drawing/2014/main" id="{290F4338-C943-D2C9-A1C5-47A3EE87FC26}"/>
              </a:ext>
            </a:extLst>
          </p:cNvPr>
          <p:cNvSpPr txBox="1">
            <a:spLocks/>
          </p:cNvSpPr>
          <p:nvPr/>
        </p:nvSpPr>
        <p:spPr>
          <a:xfrm>
            <a:off x="946800" y="2147977"/>
            <a:ext cx="2965633" cy="2058280"/>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tx1"/>
                </a:solidFill>
              </a:rPr>
              <a:t>Goal: </a:t>
            </a:r>
            <a:r>
              <a:rPr lang="en-US" sz="1800" b="1" dirty="0">
                <a:solidFill>
                  <a:srgbClr val="00B050"/>
                </a:solidFill>
              </a:rPr>
              <a:t>minimize the amount of fuel </a:t>
            </a:r>
            <a:r>
              <a:rPr lang="en-US" sz="1800" dirty="0">
                <a:solidFill>
                  <a:schemeClr val="tx1"/>
                </a:solidFill>
              </a:rPr>
              <a:t>(heat source) so the </a:t>
            </a:r>
            <a:r>
              <a:rPr lang="en-US" sz="1800" b="1" dirty="0">
                <a:solidFill>
                  <a:schemeClr val="tx1"/>
                </a:solidFill>
              </a:rPr>
              <a:t>internal temperature </a:t>
            </a:r>
            <a:r>
              <a:rPr lang="en-US" sz="1800" dirty="0">
                <a:solidFill>
                  <a:schemeClr val="tx1"/>
                </a:solidFill>
              </a:rPr>
              <a:t>follows the </a:t>
            </a:r>
            <a:r>
              <a:rPr lang="en-US" sz="1800" b="1" dirty="0">
                <a:solidFill>
                  <a:srgbClr val="C00000"/>
                </a:solidFill>
              </a:rPr>
              <a:t>target temperature </a:t>
            </a:r>
            <a:r>
              <a:rPr lang="en-US" sz="1800" dirty="0">
                <a:solidFill>
                  <a:schemeClr val="tx1"/>
                </a:solidFill>
              </a:rPr>
              <a:t>considering the </a:t>
            </a:r>
            <a:r>
              <a:rPr lang="en-US" sz="1800" b="1" dirty="0">
                <a:solidFill>
                  <a:srgbClr val="0070C0"/>
                </a:solidFill>
              </a:rPr>
              <a:t>system losses</a:t>
            </a:r>
          </a:p>
        </p:txBody>
      </p:sp>
      <p:pic>
        <p:nvPicPr>
          <p:cNvPr id="21" name="Picture 20">
            <a:extLst>
              <a:ext uri="{FF2B5EF4-FFF2-40B4-BE49-F238E27FC236}">
                <a16:creationId xmlns:a16="http://schemas.microsoft.com/office/drawing/2014/main" id="{97B11A77-EF97-763B-E9A5-61E4A78D7CC9}"/>
              </a:ext>
            </a:extLst>
          </p:cNvPr>
          <p:cNvPicPr>
            <a:picLocks noChangeAspect="1"/>
          </p:cNvPicPr>
          <p:nvPr/>
        </p:nvPicPr>
        <p:blipFill>
          <a:blip r:embed="rId4"/>
          <a:stretch>
            <a:fillRect/>
          </a:stretch>
        </p:blipFill>
        <p:spPr>
          <a:xfrm>
            <a:off x="2179764" y="4698634"/>
            <a:ext cx="2360835" cy="1620000"/>
          </a:xfrm>
          <a:prstGeom prst="rect">
            <a:avLst/>
          </a:prstGeom>
        </p:spPr>
      </p:pic>
      <p:pic>
        <p:nvPicPr>
          <p:cNvPr id="22" name="Picture 21">
            <a:extLst>
              <a:ext uri="{FF2B5EF4-FFF2-40B4-BE49-F238E27FC236}">
                <a16:creationId xmlns:a16="http://schemas.microsoft.com/office/drawing/2014/main" id="{C3DA1A1B-77DC-B912-4CC7-3D2669A0FB96}"/>
              </a:ext>
            </a:extLst>
          </p:cNvPr>
          <p:cNvPicPr>
            <a:picLocks noChangeAspect="1"/>
          </p:cNvPicPr>
          <p:nvPr/>
        </p:nvPicPr>
        <p:blipFill>
          <a:blip r:embed="rId5"/>
          <a:srcRect/>
          <a:stretch/>
        </p:blipFill>
        <p:spPr>
          <a:xfrm>
            <a:off x="9007402" y="4793298"/>
            <a:ext cx="2382352" cy="1620000"/>
          </a:xfrm>
          <a:prstGeom prst="rect">
            <a:avLst/>
          </a:prstGeom>
        </p:spPr>
      </p:pic>
      <p:cxnSp>
        <p:nvCxnSpPr>
          <p:cNvPr id="27" name="Straight Arrow Connector 26">
            <a:extLst>
              <a:ext uri="{FF2B5EF4-FFF2-40B4-BE49-F238E27FC236}">
                <a16:creationId xmlns:a16="http://schemas.microsoft.com/office/drawing/2014/main" id="{D3C5D0D6-9E28-648C-B5FD-2D6ECFAF6C9F}"/>
              </a:ext>
            </a:extLst>
          </p:cNvPr>
          <p:cNvCxnSpPr>
            <a:cxnSpLocks/>
          </p:cNvCxnSpPr>
          <p:nvPr/>
        </p:nvCxnSpPr>
        <p:spPr>
          <a:xfrm flipV="1">
            <a:off x="4639196" y="3746800"/>
            <a:ext cx="1311899" cy="1761834"/>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5E798D8-DB5F-C486-6377-EB91F413CC01}"/>
              </a:ext>
            </a:extLst>
          </p:cNvPr>
          <p:cNvCxnSpPr>
            <a:cxnSpLocks/>
          </p:cNvCxnSpPr>
          <p:nvPr/>
        </p:nvCxnSpPr>
        <p:spPr>
          <a:xfrm flipH="1">
            <a:off x="7517623" y="5603298"/>
            <a:ext cx="1331102" cy="302827"/>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1797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3F0E7-C182-1934-DBDF-3D56F39664D2}"/>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D3A56F8F-0FAA-433F-2EA4-4CD0C7BC13A3}"/>
              </a:ext>
            </a:extLst>
          </p:cNvPr>
          <p:cNvSpPr>
            <a:spLocks noGrp="1"/>
          </p:cNvSpPr>
          <p:nvPr>
            <p:ph type="title"/>
          </p:nvPr>
        </p:nvSpPr>
        <p:spPr/>
        <p:txBody>
          <a:bodyPr/>
          <a:lstStyle/>
          <a:p>
            <a:r>
              <a:rPr lang="en-GB" sz="3200"/>
              <a:t>Context</a:t>
            </a:r>
            <a:endParaRPr lang="en-GB" dirty="0"/>
          </a:p>
        </p:txBody>
      </p:sp>
      <p:sp>
        <p:nvSpPr>
          <p:cNvPr id="4" name="Slide Number Placeholder 3">
            <a:extLst>
              <a:ext uri="{FF2B5EF4-FFF2-40B4-BE49-F238E27FC236}">
                <a16:creationId xmlns:a16="http://schemas.microsoft.com/office/drawing/2014/main" id="{C668CF09-BF96-78A2-3829-708ECC2E4FE8}"/>
              </a:ext>
            </a:extLst>
          </p:cNvPr>
          <p:cNvSpPr>
            <a:spLocks noGrp="1"/>
          </p:cNvSpPr>
          <p:nvPr>
            <p:ph type="sldNum" sz="quarter" idx="12"/>
          </p:nvPr>
        </p:nvSpPr>
        <p:spPr/>
        <p:txBody>
          <a:bodyPr/>
          <a:lstStyle/>
          <a:p>
            <a:fld id="{B716C8F4-20CD-364A-8A8E-DE130115B178}" type="slidenum">
              <a:rPr lang="en-GB" sz="900" noProof="0" smtClean="0"/>
              <a:pPr/>
              <a:t>7</a:t>
            </a:fld>
            <a:endParaRPr lang="en-GB" sz="900" noProof="0" dirty="0"/>
          </a:p>
        </p:txBody>
      </p:sp>
      <p:pic>
        <p:nvPicPr>
          <p:cNvPr id="19" name="Content Placeholder 18">
            <a:extLst>
              <a:ext uri="{FF2B5EF4-FFF2-40B4-BE49-F238E27FC236}">
                <a16:creationId xmlns:a16="http://schemas.microsoft.com/office/drawing/2014/main" id="{1D941749-C95B-2A36-9151-14EC58107520}"/>
              </a:ext>
            </a:extLst>
          </p:cNvPr>
          <p:cNvPicPr>
            <a:picLocks noGrp="1" noChangeAspect="1"/>
          </p:cNvPicPr>
          <p:nvPr>
            <p:ph sz="quarter" idx="16"/>
          </p:nvPr>
        </p:nvPicPr>
        <p:blipFill>
          <a:blip r:embed="rId3"/>
          <a:srcRect/>
          <a:stretch/>
        </p:blipFill>
        <p:spPr>
          <a:xfrm>
            <a:off x="4295333" y="1492295"/>
            <a:ext cx="5748076" cy="4860972"/>
          </a:xfrm>
          <a:prstGeom prst="rect">
            <a:avLst/>
          </a:prstGeom>
        </p:spPr>
      </p:pic>
      <p:sp>
        <p:nvSpPr>
          <p:cNvPr id="20" name="Content Placeholder 6">
            <a:extLst>
              <a:ext uri="{FF2B5EF4-FFF2-40B4-BE49-F238E27FC236}">
                <a16:creationId xmlns:a16="http://schemas.microsoft.com/office/drawing/2014/main" id="{55FA300D-7CD0-9815-96FA-FF336622FADA}"/>
              </a:ext>
            </a:extLst>
          </p:cNvPr>
          <p:cNvSpPr txBox="1">
            <a:spLocks/>
          </p:cNvSpPr>
          <p:nvPr/>
        </p:nvSpPr>
        <p:spPr>
          <a:xfrm>
            <a:off x="946800" y="2147977"/>
            <a:ext cx="2965633" cy="2058280"/>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tx1"/>
                </a:solidFill>
              </a:rPr>
              <a:t>Goal: </a:t>
            </a:r>
            <a:r>
              <a:rPr lang="en-US" sz="1800" b="1" dirty="0">
                <a:solidFill>
                  <a:srgbClr val="00B050"/>
                </a:solidFill>
              </a:rPr>
              <a:t>minimize the amount of fuel </a:t>
            </a:r>
            <a:r>
              <a:rPr lang="en-US" sz="1800" dirty="0">
                <a:solidFill>
                  <a:schemeClr val="tx1"/>
                </a:solidFill>
              </a:rPr>
              <a:t>(heat source) so the </a:t>
            </a:r>
            <a:r>
              <a:rPr lang="en-US" sz="1800" b="1" dirty="0">
                <a:solidFill>
                  <a:schemeClr val="tx1"/>
                </a:solidFill>
              </a:rPr>
              <a:t>internal temperature </a:t>
            </a:r>
            <a:r>
              <a:rPr lang="en-US" sz="1800" dirty="0">
                <a:solidFill>
                  <a:schemeClr val="tx1"/>
                </a:solidFill>
              </a:rPr>
              <a:t>follows the </a:t>
            </a:r>
            <a:r>
              <a:rPr lang="en-US" sz="1800" b="1" dirty="0">
                <a:solidFill>
                  <a:srgbClr val="C00000"/>
                </a:solidFill>
              </a:rPr>
              <a:t>target temperature </a:t>
            </a:r>
            <a:r>
              <a:rPr lang="en-US" sz="1800" dirty="0">
                <a:solidFill>
                  <a:schemeClr val="tx1"/>
                </a:solidFill>
              </a:rPr>
              <a:t>considering the </a:t>
            </a:r>
            <a:r>
              <a:rPr lang="en-US" sz="1800" b="1" dirty="0">
                <a:solidFill>
                  <a:srgbClr val="0070C0"/>
                </a:solidFill>
              </a:rPr>
              <a:t>system losses</a:t>
            </a:r>
          </a:p>
        </p:txBody>
      </p:sp>
      <p:pic>
        <p:nvPicPr>
          <p:cNvPr id="21" name="Picture 20">
            <a:extLst>
              <a:ext uri="{FF2B5EF4-FFF2-40B4-BE49-F238E27FC236}">
                <a16:creationId xmlns:a16="http://schemas.microsoft.com/office/drawing/2014/main" id="{C6080E3E-EBF4-3B8E-1D44-0B2EF3734DE1}"/>
              </a:ext>
            </a:extLst>
          </p:cNvPr>
          <p:cNvPicPr>
            <a:picLocks noChangeAspect="1"/>
          </p:cNvPicPr>
          <p:nvPr/>
        </p:nvPicPr>
        <p:blipFill>
          <a:blip r:embed="rId4"/>
          <a:stretch>
            <a:fillRect/>
          </a:stretch>
        </p:blipFill>
        <p:spPr>
          <a:xfrm>
            <a:off x="2179764" y="4698634"/>
            <a:ext cx="2360835" cy="1620000"/>
          </a:xfrm>
          <a:prstGeom prst="rect">
            <a:avLst/>
          </a:prstGeom>
        </p:spPr>
      </p:pic>
      <p:pic>
        <p:nvPicPr>
          <p:cNvPr id="22" name="Picture 21">
            <a:extLst>
              <a:ext uri="{FF2B5EF4-FFF2-40B4-BE49-F238E27FC236}">
                <a16:creationId xmlns:a16="http://schemas.microsoft.com/office/drawing/2014/main" id="{BA6628A0-9C76-0467-B79A-5CF1FB18FBC5}"/>
              </a:ext>
            </a:extLst>
          </p:cNvPr>
          <p:cNvPicPr>
            <a:picLocks noChangeAspect="1"/>
          </p:cNvPicPr>
          <p:nvPr/>
        </p:nvPicPr>
        <p:blipFill>
          <a:blip r:embed="rId5"/>
          <a:srcRect/>
          <a:stretch/>
        </p:blipFill>
        <p:spPr>
          <a:xfrm>
            <a:off x="9007402" y="4793298"/>
            <a:ext cx="2382352" cy="1620000"/>
          </a:xfrm>
          <a:prstGeom prst="rect">
            <a:avLst/>
          </a:prstGeom>
        </p:spPr>
      </p:pic>
      <p:pic>
        <p:nvPicPr>
          <p:cNvPr id="23" name="Picture 22">
            <a:extLst>
              <a:ext uri="{FF2B5EF4-FFF2-40B4-BE49-F238E27FC236}">
                <a16:creationId xmlns:a16="http://schemas.microsoft.com/office/drawing/2014/main" id="{37361908-2B6E-15A5-3A25-B3052EC94D57}"/>
              </a:ext>
            </a:extLst>
          </p:cNvPr>
          <p:cNvPicPr>
            <a:picLocks noChangeAspect="1"/>
          </p:cNvPicPr>
          <p:nvPr/>
        </p:nvPicPr>
        <p:blipFill>
          <a:blip r:embed="rId6"/>
          <a:stretch>
            <a:fillRect/>
          </a:stretch>
        </p:blipFill>
        <p:spPr>
          <a:xfrm>
            <a:off x="9652323" y="2586257"/>
            <a:ext cx="2416167" cy="1620000"/>
          </a:xfrm>
          <a:prstGeom prst="rect">
            <a:avLst/>
          </a:prstGeom>
        </p:spPr>
      </p:pic>
      <p:cxnSp>
        <p:nvCxnSpPr>
          <p:cNvPr id="27" name="Straight Arrow Connector 26">
            <a:extLst>
              <a:ext uri="{FF2B5EF4-FFF2-40B4-BE49-F238E27FC236}">
                <a16:creationId xmlns:a16="http://schemas.microsoft.com/office/drawing/2014/main" id="{815DCCF7-A438-0DAE-CA30-AED124620B12}"/>
              </a:ext>
            </a:extLst>
          </p:cNvPr>
          <p:cNvCxnSpPr>
            <a:cxnSpLocks/>
          </p:cNvCxnSpPr>
          <p:nvPr/>
        </p:nvCxnSpPr>
        <p:spPr>
          <a:xfrm flipV="1">
            <a:off x="4639196" y="3746800"/>
            <a:ext cx="1311899" cy="1761834"/>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948928E-1D8B-AB06-585C-DBE736D8F8FE}"/>
              </a:ext>
            </a:extLst>
          </p:cNvPr>
          <p:cNvCxnSpPr>
            <a:cxnSpLocks/>
          </p:cNvCxnSpPr>
          <p:nvPr/>
        </p:nvCxnSpPr>
        <p:spPr>
          <a:xfrm flipH="1">
            <a:off x="7517623" y="5603298"/>
            <a:ext cx="1331102" cy="302827"/>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A28AC61-A181-F3C2-0E5B-369E16ACE758}"/>
              </a:ext>
            </a:extLst>
          </p:cNvPr>
          <p:cNvCxnSpPr>
            <a:cxnSpLocks/>
            <a:stCxn id="23" idx="0"/>
          </p:cNvCxnSpPr>
          <p:nvPr/>
        </p:nvCxnSpPr>
        <p:spPr>
          <a:xfrm flipH="1" flipV="1">
            <a:off x="10198579" y="2349661"/>
            <a:ext cx="661828" cy="236596"/>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96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65EAD-29E5-46F8-EA22-9EAFCB9D1B25}"/>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27EF6763-8F0F-7755-A5D4-4D753F5B6423}"/>
              </a:ext>
            </a:extLst>
          </p:cNvPr>
          <p:cNvSpPr>
            <a:spLocks noGrp="1"/>
          </p:cNvSpPr>
          <p:nvPr>
            <p:ph type="title"/>
          </p:nvPr>
        </p:nvSpPr>
        <p:spPr/>
        <p:txBody>
          <a:bodyPr/>
          <a:lstStyle/>
          <a:p>
            <a:r>
              <a:rPr lang="en-GB" sz="3200" dirty="0"/>
              <a:t>Objective function</a:t>
            </a:r>
            <a:endParaRPr lang="en-GB" dirty="0"/>
          </a:p>
        </p:txBody>
      </p:sp>
      <p:sp>
        <p:nvSpPr>
          <p:cNvPr id="4" name="Slide Number Placeholder 3">
            <a:extLst>
              <a:ext uri="{FF2B5EF4-FFF2-40B4-BE49-F238E27FC236}">
                <a16:creationId xmlns:a16="http://schemas.microsoft.com/office/drawing/2014/main" id="{3CC5348B-8C20-1319-50DA-94D6962645D6}"/>
              </a:ext>
            </a:extLst>
          </p:cNvPr>
          <p:cNvSpPr>
            <a:spLocks noGrp="1"/>
          </p:cNvSpPr>
          <p:nvPr>
            <p:ph type="sldNum" sz="quarter" idx="12"/>
          </p:nvPr>
        </p:nvSpPr>
        <p:spPr/>
        <p:txBody>
          <a:bodyPr/>
          <a:lstStyle/>
          <a:p>
            <a:fld id="{B716C8F4-20CD-364A-8A8E-DE130115B178}" type="slidenum">
              <a:rPr lang="en-GB" sz="900" noProof="0" smtClean="0"/>
              <a:pPr/>
              <a:t>8</a:t>
            </a:fld>
            <a:endParaRPr lang="en-GB" sz="900" noProof="0"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A96CA8A-9A00-8393-BD89-8D9DF9E3C377}"/>
                  </a:ext>
                </a:extLst>
              </p:cNvPr>
              <p:cNvSpPr>
                <a:spLocks noGrp="1"/>
              </p:cNvSpPr>
              <p:nvPr>
                <p:ph sz="quarter" idx="16"/>
              </p:nvPr>
            </p:nvSpPr>
            <p:spPr>
              <a:xfrm>
                <a:off x="947739" y="2147977"/>
                <a:ext cx="10644186" cy="1259851"/>
              </a:xfrm>
            </p:spPr>
            <p:txBody>
              <a:bodyPr/>
              <a:lstStyle/>
              <a:p>
                <a:pPr marL="0" indent="0">
                  <a:buNone/>
                </a:pPr>
                <a:r>
                  <a:rPr lang="en-US" dirty="0"/>
                  <a:t>To quantify the fitting: least squares</a:t>
                </a:r>
              </a:p>
              <a:p>
                <a:pPr marL="0" indent="0">
                  <a:buFont typeface="Arial" panose="020B0604020202020204" pitchFamily="34" charset="0"/>
                  <a:buNone/>
                </a:pPr>
                <a:r>
                  <a:rPr lang="en-US" dirty="0"/>
                  <a:t>	T is the interior temperature</a:t>
                </a:r>
              </a:p>
              <a:p>
                <a:pPr marL="0" indent="0">
                  <a:buFont typeface="Arial" panose="020B0604020202020204" pitchFamily="34" charset="0"/>
                  <a:buNone/>
                </a:pPr>
                <a:r>
                  <a:rPr lang="en-US" dirty="0"/>
                  <a:t>	where β is a constant to penalize the use of fuel, not the Lagrangian multiplier</a:t>
                </a:r>
              </a:p>
              <a:p>
                <a:pPr marL="0" indent="0">
                  <a:buFont typeface="Arial" panose="020B0604020202020204" pitchFamily="34" charset="0"/>
                  <a:buNone/>
                </a:pPr>
                <a:r>
                  <a:rPr lang="en-US" baseline="30000" dirty="0"/>
                  <a:t>	</a:t>
                </a:r>
                <a:r>
                  <a:rPr lang="en-US" dirty="0"/>
                  <a:t>and </a:t>
                </a:r>
                <a14:m>
                  <m:oMath xmlns:m="http://schemas.openxmlformats.org/officeDocument/2006/math">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𝑚</m:t>
                        </m:r>
                      </m:e>
                    </m:acc>
                    <m:r>
                      <a:rPr lang="pt-BR">
                        <a:latin typeface="Cambria Math" panose="02040503050406030204" pitchFamily="18" charset="0"/>
                      </a:rPr>
                      <m:t>(</m:t>
                    </m:r>
                    <m:r>
                      <a:rPr lang="pt-BR">
                        <a:latin typeface="Cambria Math" panose="02040503050406030204" pitchFamily="18" charset="0"/>
                      </a:rPr>
                      <m:t>𝑡</m:t>
                    </m:r>
                    <m:r>
                      <a:rPr lang="pt-BR">
                        <a:latin typeface="Cambria Math" panose="02040503050406030204" pitchFamily="18" charset="0"/>
                      </a:rPr>
                      <m:t>)</m:t>
                    </m:r>
                  </m:oMath>
                </a14:m>
                <a:r>
                  <a:rPr lang="en-US" dirty="0"/>
                  <a:t> is the fuel consumption rate (kg/h)</a:t>
                </a:r>
              </a:p>
              <a:p>
                <a:pPr marL="0" indent="0">
                  <a:buNone/>
                </a:pPr>
                <a:endParaRPr lang="en-US" baseline="30000" dirty="0"/>
              </a:p>
              <a:p>
                <a:pPr marL="0" indent="0">
                  <a:buNone/>
                </a:pPr>
                <a:endParaRPr lang="en-US" baseline="30000" dirty="0"/>
              </a:p>
            </p:txBody>
          </p:sp>
        </mc:Choice>
        <mc:Fallback xmlns="">
          <p:sp>
            <p:nvSpPr>
              <p:cNvPr id="5" name="Content Placeholder 4">
                <a:extLst>
                  <a:ext uri="{FF2B5EF4-FFF2-40B4-BE49-F238E27FC236}">
                    <a16:creationId xmlns:a16="http://schemas.microsoft.com/office/drawing/2014/main" id="{3A96CA8A-9A00-8393-BD89-8D9DF9E3C377}"/>
                  </a:ext>
                </a:extLst>
              </p:cNvPr>
              <p:cNvSpPr>
                <a:spLocks noGrp="1" noRot="1" noChangeAspect="1" noMove="1" noResize="1" noEditPoints="1" noAdjustHandles="1" noChangeArrowheads="1" noChangeShapeType="1" noTextEdit="1"/>
              </p:cNvSpPr>
              <p:nvPr>
                <p:ph sz="quarter" idx="16"/>
              </p:nvPr>
            </p:nvSpPr>
            <p:spPr>
              <a:xfrm>
                <a:off x="947739" y="2147977"/>
                <a:ext cx="10644186" cy="1259851"/>
              </a:xfrm>
              <a:blipFill>
                <a:blip r:embed="rId3"/>
                <a:stretch>
                  <a:fillRect l="-286" t="-966" b="-579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3AEF911-83E1-EF31-820F-0494CFEE3A76}"/>
                  </a:ext>
                </a:extLst>
              </p:cNvPr>
              <p:cNvSpPr txBox="1"/>
              <p:nvPr/>
            </p:nvSpPr>
            <p:spPr>
              <a:xfrm>
                <a:off x="4710077" y="3512422"/>
                <a:ext cx="3119508" cy="469231"/>
              </a:xfrm>
              <a:prstGeom prst="rect">
                <a:avLst/>
              </a:prstGeom>
              <a:noFill/>
            </p:spPr>
            <p:txBody>
              <a:bodyPr wrap="none" lIns="0" tIns="0" rIns="0" bIns="0" rtlCol="0">
                <a:spAutoFit/>
              </a:bodyPr>
              <a:lstStyle/>
              <a:p>
                <a14:m>
                  <m:oMath xmlns:m="http://schemas.openxmlformats.org/officeDocument/2006/math">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𝑇</m:t>
                            </m:r>
                            <m:d>
                              <m:dPr>
                                <m:ctrlPr>
                                  <a:rPr lang="pt-BR" b="0" i="1" smtClean="0">
                                    <a:latin typeface="Cambria Math" panose="02040503050406030204" pitchFamily="18" charset="0"/>
                                  </a:rPr>
                                </m:ctrlPr>
                              </m:dPr>
                              <m:e>
                                <m:r>
                                  <a:rPr lang="pt-BR" b="0" i="1" smtClean="0">
                                    <a:latin typeface="Cambria Math" panose="02040503050406030204" pitchFamily="18" charset="0"/>
                                  </a:rPr>
                                  <m:t>𝑡</m:t>
                                </m:r>
                                <m:r>
                                  <a:rPr lang="pt-BR" b="0" i="1" smtClean="0">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𝒎</m:t>
                                    </m:r>
                                  </m:e>
                                </m:acc>
                              </m:e>
                            </m:d>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𝑇</m:t>
                                </m:r>
                              </m:e>
                              <m:sub>
                                <m:r>
                                  <a:rPr lang="pt-BR" b="0" i="1" smtClean="0">
                                    <a:latin typeface="Cambria Math" panose="02040503050406030204" pitchFamily="18" charset="0"/>
                                  </a:rPr>
                                  <m:t>𝑡𝑎𝑟𝑔𝑒𝑡</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𝑡</m:t>
                                </m:r>
                              </m:e>
                            </m:d>
                          </m:e>
                        </m:d>
                      </m:e>
                      <m:sup>
                        <m:r>
                          <a:rPr lang="pt-BR" b="0" i="1" smtClean="0">
                            <a:latin typeface="Cambria Math" panose="02040503050406030204" pitchFamily="18" charset="0"/>
                          </a:rPr>
                          <m:t>2</m:t>
                        </m:r>
                      </m:sup>
                    </m:sSup>
                  </m:oMath>
                </a14:m>
                <a:r>
                  <a:rPr lang="en-US" dirty="0"/>
                  <a:t>+</a:t>
                </a:r>
                <a14:m>
                  <m:oMath xmlns:m="http://schemas.openxmlformats.org/officeDocument/2006/math">
                    <m:r>
                      <a:rPr lang="pt-BR" i="1">
                        <a:latin typeface="Cambria Math" panose="02040503050406030204" pitchFamily="18" charset="0"/>
                      </a:rPr>
                      <m:t>𝛽</m:t>
                    </m:r>
                    <m:r>
                      <a:rPr lang="pt-BR" i="1">
                        <a:latin typeface="Cambria Math" panose="02040503050406030204" pitchFamily="18" charset="0"/>
                      </a:rPr>
                      <m:t> </m:t>
                    </m:r>
                    <m:acc>
                      <m:accPr>
                        <m:chr m:val="̇"/>
                        <m:ctrlPr>
                          <a:rPr lang="pt-BR" b="1" i="1">
                            <a:latin typeface="Cambria Math" panose="02040503050406030204" pitchFamily="18" charset="0"/>
                          </a:rPr>
                        </m:ctrlPr>
                      </m:accPr>
                      <m:e>
                        <m:r>
                          <a:rPr lang="pt-BR" b="1" i="1">
                            <a:latin typeface="Cambria Math" panose="02040503050406030204" pitchFamily="18" charset="0"/>
                          </a:rPr>
                          <m:t>𝒎</m:t>
                        </m:r>
                      </m:e>
                    </m:acc>
                    <m:r>
                      <a:rPr lang="pt-BR" b="1" i="1">
                        <a:latin typeface="Cambria Math" panose="02040503050406030204" pitchFamily="18" charset="0"/>
                      </a:rPr>
                      <m:t>(</m:t>
                    </m:r>
                    <m:r>
                      <a:rPr lang="pt-BR" b="1" i="1">
                        <a:latin typeface="Cambria Math" panose="02040503050406030204" pitchFamily="18" charset="0"/>
                      </a:rPr>
                      <m:t>𝒕</m:t>
                    </m:r>
                    <m:r>
                      <a:rPr lang="pt-BR" b="1" i="1">
                        <a:latin typeface="Cambria Math" panose="02040503050406030204" pitchFamily="18" charset="0"/>
                      </a:rPr>
                      <m:t>)</m:t>
                    </m:r>
                  </m:oMath>
                </a14:m>
                <a:endParaRPr lang="en-US" b="1" dirty="0"/>
              </a:p>
            </p:txBody>
          </p:sp>
        </mc:Choice>
        <mc:Fallback xmlns="">
          <p:sp>
            <p:nvSpPr>
              <p:cNvPr id="8" name="TextBox 7">
                <a:extLst>
                  <a:ext uri="{FF2B5EF4-FFF2-40B4-BE49-F238E27FC236}">
                    <a16:creationId xmlns:a16="http://schemas.microsoft.com/office/drawing/2014/main" id="{23AEF911-83E1-EF31-820F-0494CFEE3A76}"/>
                  </a:ext>
                </a:extLst>
              </p:cNvPr>
              <p:cNvSpPr txBox="1">
                <a:spLocks noRot="1" noChangeAspect="1" noMove="1" noResize="1" noEditPoints="1" noAdjustHandles="1" noChangeArrowheads="1" noChangeShapeType="1" noTextEdit="1"/>
              </p:cNvSpPr>
              <p:nvPr/>
            </p:nvSpPr>
            <p:spPr>
              <a:xfrm>
                <a:off x="4710077" y="3512422"/>
                <a:ext cx="3119508" cy="469231"/>
              </a:xfrm>
              <a:prstGeom prst="rect">
                <a:avLst/>
              </a:prstGeom>
              <a:blipFill>
                <a:blip r:embed="rId4"/>
                <a:stretch>
                  <a:fillRect r="-2846" b="-15789"/>
                </a:stretch>
              </a:blipFill>
            </p:spPr>
            <p:txBody>
              <a:bodyPr/>
              <a:lstStyle/>
              <a:p>
                <a:r>
                  <a:rPr lang="en-US">
                    <a:noFill/>
                  </a:rPr>
                  <a:t> </a:t>
                </a:r>
              </a:p>
            </p:txBody>
          </p:sp>
        </mc:Fallback>
      </mc:AlternateContent>
      <p:sp>
        <p:nvSpPr>
          <p:cNvPr id="11" name="Content Placeholder 4">
            <a:extLst>
              <a:ext uri="{FF2B5EF4-FFF2-40B4-BE49-F238E27FC236}">
                <a16:creationId xmlns:a16="http://schemas.microsoft.com/office/drawing/2014/main" id="{4B91996A-FD49-D514-91E8-588731914487}"/>
              </a:ext>
            </a:extLst>
          </p:cNvPr>
          <p:cNvSpPr txBox="1">
            <a:spLocks/>
          </p:cNvSpPr>
          <p:nvPr/>
        </p:nvSpPr>
        <p:spPr>
          <a:xfrm>
            <a:off x="947738" y="4086247"/>
            <a:ext cx="10644186" cy="484387"/>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Then, the objective function</a:t>
            </a:r>
            <a:endParaRPr lang="en-US" baseline="30000" dirty="0"/>
          </a:p>
          <a:p>
            <a:pPr marL="0" indent="0">
              <a:buFont typeface="Arial" panose="020B0604020202020204" pitchFamily="34" charset="0"/>
              <a:buNone/>
            </a:pPr>
            <a:endParaRPr lang="en-US" baseline="3000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769CB73-88FC-19B2-5F3C-DD587D94FD8D}"/>
                  </a:ext>
                </a:extLst>
              </p:cNvPr>
              <p:cNvSpPr txBox="1"/>
              <p:nvPr/>
            </p:nvSpPr>
            <p:spPr>
              <a:xfrm>
                <a:off x="3751586" y="4631010"/>
                <a:ext cx="4485267" cy="6229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pt-BR" b="0" i="1" smtClean="0">
                              <a:latin typeface="Cambria Math" panose="02040503050406030204" pitchFamily="18" charset="0"/>
                            </a:rPr>
                          </m:ctrlPr>
                        </m:funcPr>
                        <m:fName>
                          <m:eqArr>
                            <m:eqArrPr>
                              <m:ctrlPr>
                                <a:rPr lang="pt-BR" b="0" i="1" smtClean="0">
                                  <a:latin typeface="Cambria Math" panose="02040503050406030204" pitchFamily="18" charset="0"/>
                                </a:rPr>
                              </m:ctrlPr>
                            </m:eqArrPr>
                            <m:e>
                              <m:r>
                                <m:rPr>
                                  <m:sty m:val="p"/>
                                </m:rPr>
                                <a:rPr lang="pt-BR" b="0" i="0" smtClean="0">
                                  <a:latin typeface="Cambria Math" panose="02040503050406030204" pitchFamily="18" charset="0"/>
                                </a:rPr>
                                <m:t>min</m:t>
                              </m:r>
                            </m:e>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𝑚</m:t>
                                  </m:r>
                                  <m:r>
                                    <a:rPr lang="pt-BR" b="0" i="1" smtClean="0">
                                      <a:latin typeface="Cambria Math" panose="02040503050406030204" pitchFamily="18" charset="0"/>
                                    </a:rPr>
                                    <m:t>(</m:t>
                                  </m:r>
                                  <m:r>
                                    <a:rPr lang="pt-BR" b="0" i="1" smtClean="0">
                                      <a:latin typeface="Cambria Math" panose="02040503050406030204" pitchFamily="18" charset="0"/>
                                    </a:rPr>
                                    <m:t>𝑡</m:t>
                                  </m:r>
                                  <m:r>
                                    <a:rPr lang="pt-BR" b="0" i="1" smtClean="0">
                                      <a:latin typeface="Cambria Math" panose="02040503050406030204" pitchFamily="18" charset="0"/>
                                    </a:rPr>
                                    <m:t>)</m:t>
                                  </m:r>
                                </m:e>
                              </m:acc>
                            </m:e>
                          </m:eqArr>
                        </m:fName>
                        <m:e>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𝑋</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b="0" i="1" smtClean="0">
                                          <a:latin typeface="Cambria Math" panose="02040503050406030204" pitchFamily="18" charset="0"/>
                                        </a:rPr>
                                        <m:t>𝑇</m:t>
                                      </m:r>
                                      <m:d>
                                        <m:dPr>
                                          <m:ctrlPr>
                                            <a:rPr lang="pt-BR" i="1">
                                              <a:latin typeface="Cambria Math" panose="02040503050406030204" pitchFamily="18" charset="0"/>
                                            </a:rPr>
                                          </m:ctrlPr>
                                        </m:dPr>
                                        <m:e>
                                          <m:r>
                                            <a:rPr lang="pt-BR" i="1">
                                              <a:latin typeface="Cambria Math" panose="02040503050406030204" pitchFamily="18" charset="0"/>
                                            </a:rPr>
                                            <m:t>𝑡</m:t>
                                          </m:r>
                                          <m:r>
                                            <a:rPr lang="pt-BR" b="0" i="1" smtClean="0">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𝒎</m:t>
                                              </m:r>
                                            </m:e>
                                          </m:acc>
                                        </m:e>
                                      </m:d>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𝑇</m:t>
                                          </m:r>
                                        </m:e>
                                        <m:sub>
                                          <m:r>
                                            <a:rPr lang="pt-BR" i="1">
                                              <a:latin typeface="Cambria Math" panose="02040503050406030204" pitchFamily="18" charset="0"/>
                                            </a:rPr>
                                            <m:t>𝑡𝑎𝑟𝑔𝑒𝑡</m:t>
                                          </m:r>
                                        </m:sub>
                                      </m:sSub>
                                      <m:d>
                                        <m:dPr>
                                          <m:ctrlPr>
                                            <a:rPr lang="pt-BR" i="1">
                                              <a:latin typeface="Cambria Math" panose="02040503050406030204" pitchFamily="18" charset="0"/>
                                            </a:rPr>
                                          </m:ctrlPr>
                                        </m:dPr>
                                        <m:e>
                                          <m:r>
                                            <a:rPr lang="pt-BR" i="1">
                                              <a:latin typeface="Cambria Math" panose="02040503050406030204" pitchFamily="18" charset="0"/>
                                            </a:rPr>
                                            <m:t>𝑡</m:t>
                                          </m:r>
                                        </m:e>
                                      </m:d>
                                    </m:e>
                                  </m:d>
                                </m:e>
                                <m:sup>
                                  <m:r>
                                    <a:rPr lang="pt-BR" i="1">
                                      <a:latin typeface="Cambria Math" panose="02040503050406030204" pitchFamily="18" charset="0"/>
                                    </a:rPr>
                                    <m:t>2</m:t>
                                  </m:r>
                                </m:sup>
                              </m:sSup>
                              <m:r>
                                <a:rPr lang="pt-BR" b="0" i="1" smtClean="0">
                                  <a:latin typeface="Cambria Math" panose="02040503050406030204" pitchFamily="18" charset="0"/>
                                </a:rPr>
                                <m:t>+</m:t>
                              </m:r>
                              <m:r>
                                <a:rPr lang="pt-BR" i="1">
                                  <a:latin typeface="Cambria Math" panose="02040503050406030204" pitchFamily="18" charset="0"/>
                                </a:rPr>
                                <m:t>𝛽</m:t>
                              </m:r>
                              <m:r>
                                <a:rPr lang="pt-BR" i="1">
                                  <a:latin typeface="Cambria Math" panose="02040503050406030204" pitchFamily="18" charset="0"/>
                                </a:rPr>
                                <m:t> </m:t>
                              </m:r>
                              <m:acc>
                                <m:accPr>
                                  <m:chr m:val="̇"/>
                                  <m:ctrlPr>
                                    <a:rPr lang="pt-BR" b="1" i="1">
                                      <a:latin typeface="Cambria Math" panose="02040503050406030204" pitchFamily="18" charset="0"/>
                                    </a:rPr>
                                  </m:ctrlPr>
                                </m:accPr>
                                <m:e>
                                  <m:r>
                                    <a:rPr lang="pt-BR" b="1" i="1">
                                      <a:latin typeface="Cambria Math" panose="02040503050406030204" pitchFamily="18" charset="0"/>
                                    </a:rPr>
                                    <m:t>𝒎</m:t>
                                  </m:r>
                                </m:e>
                              </m:acc>
                              <m:r>
                                <a:rPr lang="pt-BR" b="1" i="1">
                                  <a:latin typeface="Cambria Math" panose="02040503050406030204" pitchFamily="18" charset="0"/>
                                </a:rPr>
                                <m:t>(</m:t>
                              </m:r>
                              <m:r>
                                <a:rPr lang="pt-BR" b="1" i="1">
                                  <a:latin typeface="Cambria Math" panose="02040503050406030204" pitchFamily="18" charset="0"/>
                                </a:rPr>
                                <m:t>𝒕</m:t>
                              </m:r>
                              <m:r>
                                <a:rPr lang="pt-BR" b="1" i="1">
                                  <a:latin typeface="Cambria Math" panose="02040503050406030204" pitchFamily="18" charset="0"/>
                                </a:rPr>
                                <m:t>)</m:t>
                              </m:r>
                              <m:r>
                                <m:rPr>
                                  <m:nor/>
                                </m:rPr>
                                <a:rPr lang="en-US" b="1" dirty="0"/>
                                <m:t> </m:t>
                              </m:r>
                              <m:r>
                                <a:rPr lang="pt-BR" b="0" i="1" dirty="0" smtClean="0">
                                  <a:latin typeface="Cambria Math" panose="02040503050406030204" pitchFamily="18" charset="0"/>
                                </a:rPr>
                                <m:t>𝑑𝑡</m:t>
                              </m:r>
                            </m:e>
                          </m:nary>
                        </m:e>
                      </m:func>
                    </m:oMath>
                  </m:oMathPara>
                </a14:m>
                <a:endParaRPr lang="en-US" dirty="0"/>
              </a:p>
            </p:txBody>
          </p:sp>
        </mc:Choice>
        <mc:Fallback xmlns="">
          <p:sp>
            <p:nvSpPr>
              <p:cNvPr id="13" name="TextBox 12">
                <a:extLst>
                  <a:ext uri="{FF2B5EF4-FFF2-40B4-BE49-F238E27FC236}">
                    <a16:creationId xmlns:a16="http://schemas.microsoft.com/office/drawing/2014/main" id="{8769CB73-88FC-19B2-5F3C-DD587D94FD8D}"/>
                  </a:ext>
                </a:extLst>
              </p:cNvPr>
              <p:cNvSpPr txBox="1">
                <a:spLocks noRot="1" noChangeAspect="1" noMove="1" noResize="1" noEditPoints="1" noAdjustHandles="1" noChangeArrowheads="1" noChangeShapeType="1" noTextEdit="1"/>
              </p:cNvSpPr>
              <p:nvPr/>
            </p:nvSpPr>
            <p:spPr>
              <a:xfrm>
                <a:off x="3751586" y="4631010"/>
                <a:ext cx="4485267" cy="622927"/>
              </a:xfrm>
              <a:prstGeom prst="rect">
                <a:avLst/>
              </a:prstGeom>
              <a:blipFill>
                <a:blip r:embed="rId5"/>
                <a:stretch>
                  <a:fillRect l="-9322" t="-180000" r="-565" b="-26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4">
                <a:extLst>
                  <a:ext uri="{FF2B5EF4-FFF2-40B4-BE49-F238E27FC236}">
                    <a16:creationId xmlns:a16="http://schemas.microsoft.com/office/drawing/2014/main" id="{EEA96674-DAEE-C27C-C07C-2F78BE7F0559}"/>
                  </a:ext>
                </a:extLst>
              </p:cNvPr>
              <p:cNvSpPr txBox="1">
                <a:spLocks/>
              </p:cNvSpPr>
              <p:nvPr/>
            </p:nvSpPr>
            <p:spPr>
              <a:xfrm>
                <a:off x="947738" y="5626248"/>
                <a:ext cx="9097215" cy="657530"/>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We want to find </a:t>
                </a:r>
                <a14:m>
                  <m:oMath xmlns:m="http://schemas.openxmlformats.org/officeDocument/2006/math">
                    <m:acc>
                      <m:accPr>
                        <m:chr m:val="̇"/>
                        <m:ctrlPr>
                          <a:rPr lang="pt-BR" b="1" i="1">
                            <a:latin typeface="Cambria Math" panose="02040503050406030204" pitchFamily="18" charset="0"/>
                          </a:rPr>
                        </m:ctrlPr>
                      </m:accPr>
                      <m:e>
                        <m:r>
                          <a:rPr lang="pt-BR" b="1" i="1">
                            <a:latin typeface="Cambria Math" panose="02040503050406030204" pitchFamily="18" charset="0"/>
                          </a:rPr>
                          <m:t>𝒎</m:t>
                        </m:r>
                      </m:e>
                    </m:acc>
                    <m:d>
                      <m:dPr>
                        <m:ctrlPr>
                          <a:rPr lang="pt-BR" b="1" i="1" smtClean="0">
                            <a:latin typeface="Cambria Math" panose="02040503050406030204" pitchFamily="18" charset="0"/>
                          </a:rPr>
                        </m:ctrlPr>
                      </m:dPr>
                      <m:e>
                        <m:r>
                          <a:rPr lang="pt-BR" b="1" i="1" smtClean="0">
                            <a:latin typeface="Cambria Math" panose="02040503050406030204" pitchFamily="18" charset="0"/>
                          </a:rPr>
                          <m:t>𝒕</m:t>
                        </m:r>
                      </m:e>
                    </m:d>
                  </m:oMath>
                </a14:m>
                <a:r>
                  <a:rPr lang="en-US" dirty="0"/>
                  <a:t>. Minimizing </a:t>
                </a:r>
                <a14:m>
                  <m:oMath xmlns:m="http://schemas.openxmlformats.org/officeDocument/2006/math">
                    <m:acc>
                      <m:accPr>
                        <m:chr m:val="̇"/>
                        <m:ctrlPr>
                          <a:rPr lang="pt-BR" b="1" i="1">
                            <a:latin typeface="Cambria Math" panose="02040503050406030204" pitchFamily="18" charset="0"/>
                          </a:rPr>
                        </m:ctrlPr>
                      </m:accPr>
                      <m:e>
                        <m:r>
                          <a:rPr lang="pt-BR" b="1" i="1">
                            <a:latin typeface="Cambria Math" panose="02040503050406030204" pitchFamily="18" charset="0"/>
                          </a:rPr>
                          <m:t>𝒎</m:t>
                        </m:r>
                      </m:e>
                    </m:acc>
                    <m:d>
                      <m:dPr>
                        <m:ctrlPr>
                          <a:rPr lang="pt-BR" b="1" i="1">
                            <a:latin typeface="Cambria Math" panose="02040503050406030204" pitchFamily="18" charset="0"/>
                          </a:rPr>
                        </m:ctrlPr>
                      </m:dPr>
                      <m:e>
                        <m:r>
                          <a:rPr lang="pt-BR" b="1" i="1">
                            <a:latin typeface="Cambria Math" panose="02040503050406030204" pitchFamily="18" charset="0"/>
                          </a:rPr>
                          <m:t>𝒕</m:t>
                        </m:r>
                      </m:e>
                    </m:d>
                  </m:oMath>
                </a14:m>
                <a:r>
                  <a:rPr lang="en-US" dirty="0"/>
                  <a:t> it will also minimize the amount of fuel, since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𝑊</m:t>
                        </m:r>
                      </m:e>
                      <m:sub>
                        <m:r>
                          <a:rPr lang="pt-BR" b="0" i="1" smtClean="0">
                            <a:latin typeface="Cambria Math" panose="02040503050406030204" pitchFamily="18" charset="0"/>
                          </a:rPr>
                          <m:t>𝑓𝑢𝑒𝑙</m:t>
                        </m:r>
                      </m:sub>
                    </m:sSub>
                    <m:r>
                      <a:rPr lang="pt-BR" b="0" i="1" smtClean="0">
                        <a:latin typeface="Cambria Math" panose="02040503050406030204" pitchFamily="18" charset="0"/>
                      </a:rPr>
                      <m:t>=</m:t>
                    </m:r>
                    <m:nary>
                      <m:naryPr>
                        <m:limLoc m:val="undOvr"/>
                        <m:subHide m:val="on"/>
                        <m:supHide m:val="on"/>
                        <m:ctrlPr>
                          <a:rPr lang="pt-BR" b="0" i="1" smtClean="0">
                            <a:latin typeface="Cambria Math" panose="02040503050406030204" pitchFamily="18" charset="0"/>
                          </a:rPr>
                        </m:ctrlPr>
                      </m:naryPr>
                      <m:sub/>
                      <m:sup/>
                      <m:e>
                        <m:acc>
                          <m:accPr>
                            <m:chr m:val="̇"/>
                            <m:ctrlPr>
                              <a:rPr lang="pt-BR" b="1" i="1">
                                <a:latin typeface="Cambria Math" panose="02040503050406030204" pitchFamily="18" charset="0"/>
                              </a:rPr>
                            </m:ctrlPr>
                          </m:accPr>
                          <m:e>
                            <m:r>
                              <a:rPr lang="pt-BR" b="1" i="1">
                                <a:latin typeface="Cambria Math" panose="02040503050406030204" pitchFamily="18" charset="0"/>
                              </a:rPr>
                              <m:t>𝒎</m:t>
                            </m:r>
                          </m:e>
                        </m:acc>
                        <m:d>
                          <m:dPr>
                            <m:ctrlPr>
                              <a:rPr lang="pt-BR" b="0" i="1" smtClean="0">
                                <a:latin typeface="Cambria Math" panose="02040503050406030204" pitchFamily="18" charset="0"/>
                              </a:rPr>
                            </m:ctrlPr>
                          </m:dPr>
                          <m:e>
                            <m:r>
                              <a:rPr lang="pt-BR" b="0" i="1" smtClean="0">
                                <a:latin typeface="Cambria Math" panose="02040503050406030204" pitchFamily="18" charset="0"/>
                              </a:rPr>
                              <m:t>𝑡</m:t>
                            </m:r>
                          </m:e>
                        </m:d>
                        <m:r>
                          <a:rPr lang="pt-BR" b="0" i="1" smtClean="0">
                            <a:latin typeface="Cambria Math" panose="02040503050406030204" pitchFamily="18" charset="0"/>
                          </a:rPr>
                          <m:t>𝑑𝑡</m:t>
                        </m:r>
                      </m:e>
                    </m:nary>
                  </m:oMath>
                </a14:m>
                <a:r>
                  <a:rPr lang="en-US" dirty="0"/>
                  <a:t> </a:t>
                </a:r>
                <a:endParaRPr lang="en-US" baseline="30000" dirty="0"/>
              </a:p>
              <a:p>
                <a:pPr marL="0" indent="0">
                  <a:buFont typeface="Arial" panose="020B0604020202020204" pitchFamily="34" charset="0"/>
                  <a:buNone/>
                </a:pPr>
                <a:endParaRPr lang="en-US" baseline="30000" dirty="0"/>
              </a:p>
            </p:txBody>
          </p:sp>
        </mc:Choice>
        <mc:Fallback xmlns="">
          <p:sp>
            <p:nvSpPr>
              <p:cNvPr id="14" name="Content Placeholder 4">
                <a:extLst>
                  <a:ext uri="{FF2B5EF4-FFF2-40B4-BE49-F238E27FC236}">
                    <a16:creationId xmlns:a16="http://schemas.microsoft.com/office/drawing/2014/main" id="{EEA96674-DAEE-C27C-C07C-2F78BE7F0559}"/>
                  </a:ext>
                </a:extLst>
              </p:cNvPr>
              <p:cNvSpPr txBox="1">
                <a:spLocks noRot="1" noChangeAspect="1" noMove="1" noResize="1" noEditPoints="1" noAdjustHandles="1" noChangeArrowheads="1" noChangeShapeType="1" noTextEdit="1"/>
              </p:cNvSpPr>
              <p:nvPr/>
            </p:nvSpPr>
            <p:spPr>
              <a:xfrm>
                <a:off x="947738" y="5626248"/>
                <a:ext cx="9097215" cy="657530"/>
              </a:xfrm>
              <a:prstGeom prst="rect">
                <a:avLst/>
              </a:prstGeom>
              <a:blipFill>
                <a:blip r:embed="rId6"/>
                <a:stretch>
                  <a:fillRect l="-279" t="-30769" b="-100000"/>
                </a:stretch>
              </a:blipFill>
            </p:spPr>
            <p:txBody>
              <a:bodyPr/>
              <a:lstStyle/>
              <a:p>
                <a:r>
                  <a:rPr lang="en-US">
                    <a:noFill/>
                  </a:rPr>
                  <a:t> </a:t>
                </a:r>
              </a:p>
            </p:txBody>
          </p:sp>
        </mc:Fallback>
      </mc:AlternateContent>
    </p:spTree>
    <p:extLst>
      <p:ext uri="{BB962C8B-B14F-4D97-AF65-F5344CB8AC3E}">
        <p14:creationId xmlns:p14="http://schemas.microsoft.com/office/powerpoint/2010/main" val="3970327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42F67-84EC-7858-5CAC-E4F52F9E0A50}"/>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14FF9FC8-A3A1-BF34-F172-6F7CCEA38484}"/>
              </a:ext>
            </a:extLst>
          </p:cNvPr>
          <p:cNvSpPr>
            <a:spLocks noGrp="1"/>
          </p:cNvSpPr>
          <p:nvPr>
            <p:ph type="title"/>
          </p:nvPr>
        </p:nvSpPr>
        <p:spPr/>
        <p:txBody>
          <a:bodyPr/>
          <a:lstStyle/>
          <a:p>
            <a:r>
              <a:rPr lang="en-US" sz="3200" dirty="0"/>
              <a:t>Constraints</a:t>
            </a:r>
            <a:endParaRPr lang="en-US" dirty="0"/>
          </a:p>
        </p:txBody>
      </p:sp>
      <p:sp>
        <p:nvSpPr>
          <p:cNvPr id="4" name="Slide Number Placeholder 3">
            <a:extLst>
              <a:ext uri="{FF2B5EF4-FFF2-40B4-BE49-F238E27FC236}">
                <a16:creationId xmlns:a16="http://schemas.microsoft.com/office/drawing/2014/main" id="{62C5E86E-A887-5517-5631-B8644F9CFC3F}"/>
              </a:ext>
            </a:extLst>
          </p:cNvPr>
          <p:cNvSpPr>
            <a:spLocks noGrp="1"/>
          </p:cNvSpPr>
          <p:nvPr>
            <p:ph type="sldNum" sz="quarter" idx="12"/>
          </p:nvPr>
        </p:nvSpPr>
        <p:spPr/>
        <p:txBody>
          <a:bodyPr/>
          <a:lstStyle/>
          <a:p>
            <a:fld id="{B716C8F4-20CD-364A-8A8E-DE130115B178}" type="slidenum">
              <a:rPr lang="en-US" sz="900" smtClean="0"/>
              <a:pPr/>
              <a:t>9</a:t>
            </a:fld>
            <a:endParaRPr lang="en-US" sz="900"/>
          </a:p>
        </p:txBody>
      </p:sp>
      <mc:AlternateContent xmlns:mc="http://schemas.openxmlformats.org/markup-compatibility/2006" xmlns:a14="http://schemas.microsoft.com/office/drawing/2010/main">
        <mc:Choice Requires="a14">
          <p:sp>
            <p:nvSpPr>
              <p:cNvPr id="3" name="Content Placeholder 4">
                <a:extLst>
                  <a:ext uri="{FF2B5EF4-FFF2-40B4-BE49-F238E27FC236}">
                    <a16:creationId xmlns:a16="http://schemas.microsoft.com/office/drawing/2014/main" id="{50716436-6127-6955-9718-BC4743C2602B}"/>
                  </a:ext>
                </a:extLst>
              </p:cNvPr>
              <p:cNvSpPr txBox="1">
                <a:spLocks/>
              </p:cNvSpPr>
              <p:nvPr/>
            </p:nvSpPr>
            <p:spPr>
              <a:xfrm>
                <a:off x="947739" y="2147978"/>
                <a:ext cx="10644186" cy="499904"/>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1) The burner geometry and fuel characteristics impose an upper boundary on </a:t>
                </a: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𝒎</m:t>
                        </m:r>
                      </m:e>
                    </m:acc>
                  </m:oMath>
                </a14:m>
                <a:endParaRPr lang="en-US" dirty="0"/>
              </a:p>
            </p:txBody>
          </p:sp>
        </mc:Choice>
        <mc:Fallback xmlns="">
          <p:sp>
            <p:nvSpPr>
              <p:cNvPr id="3" name="Content Placeholder 4">
                <a:extLst>
                  <a:ext uri="{FF2B5EF4-FFF2-40B4-BE49-F238E27FC236}">
                    <a16:creationId xmlns:a16="http://schemas.microsoft.com/office/drawing/2014/main" id="{50716436-6127-6955-9718-BC4743C2602B}"/>
                  </a:ext>
                </a:extLst>
              </p:cNvPr>
              <p:cNvSpPr txBox="1">
                <a:spLocks noRot="1" noChangeAspect="1" noMove="1" noResize="1" noEditPoints="1" noAdjustHandles="1" noChangeArrowheads="1" noChangeShapeType="1" noTextEdit="1"/>
              </p:cNvSpPr>
              <p:nvPr/>
            </p:nvSpPr>
            <p:spPr>
              <a:xfrm>
                <a:off x="947739" y="2147978"/>
                <a:ext cx="10644186" cy="499904"/>
              </a:xfrm>
              <a:prstGeom prst="rect">
                <a:avLst/>
              </a:prstGeom>
              <a:blipFill>
                <a:blip r:embed="rId3"/>
                <a:stretch>
                  <a:fillRect l="-2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0E6779-FE29-2AD8-3D8C-E1230A29A411}"/>
                  </a:ext>
                </a:extLst>
              </p:cNvPr>
              <p:cNvSpPr txBox="1"/>
              <p:nvPr/>
            </p:nvSpPr>
            <p:spPr>
              <a:xfrm>
                <a:off x="6055412" y="2647881"/>
                <a:ext cx="18161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0" smtClean="0">
                          <a:latin typeface="Cambria Math" panose="02040503050406030204" pitchFamily="18" charset="0"/>
                        </a:rPr>
                        <m:t>≤</m:t>
                      </m:r>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e>
                        <m:sub>
                          <m:r>
                            <m:rPr>
                              <m:sty m:val="p"/>
                            </m:rPr>
                            <a:rPr lang="en-US" b="0" i="0" smtClean="0">
                              <a:latin typeface="Cambria Math" panose="02040503050406030204" pitchFamily="18" charset="0"/>
                            </a:rPr>
                            <m:t>max</m:t>
                          </m:r>
                        </m:sub>
                      </m:sSub>
                    </m:oMath>
                  </m:oMathPara>
                </a14:m>
                <a:endParaRPr lang="en-US" dirty="0"/>
              </a:p>
            </p:txBody>
          </p:sp>
        </mc:Choice>
        <mc:Fallback xmlns="">
          <p:sp>
            <p:nvSpPr>
              <p:cNvPr id="6" name="TextBox 5">
                <a:extLst>
                  <a:ext uri="{FF2B5EF4-FFF2-40B4-BE49-F238E27FC236}">
                    <a16:creationId xmlns:a16="http://schemas.microsoft.com/office/drawing/2014/main" id="{150E6779-FE29-2AD8-3D8C-E1230A29A411}"/>
                  </a:ext>
                </a:extLst>
              </p:cNvPr>
              <p:cNvSpPr txBox="1">
                <a:spLocks noRot="1" noChangeAspect="1" noMove="1" noResize="1" noEditPoints="1" noAdjustHandles="1" noChangeArrowheads="1" noChangeShapeType="1" noTextEdit="1"/>
              </p:cNvSpPr>
              <p:nvPr/>
            </p:nvSpPr>
            <p:spPr>
              <a:xfrm>
                <a:off x="6055412" y="2647881"/>
                <a:ext cx="1816138" cy="276999"/>
              </a:xfrm>
              <a:prstGeom prst="rect">
                <a:avLst/>
              </a:prstGeom>
              <a:blipFill>
                <a:blip r:embed="rId4"/>
                <a:stretch>
                  <a:fillRect l="-2083" t="-4348" b="-34783"/>
                </a:stretch>
              </a:blipFill>
            </p:spPr>
            <p:txBody>
              <a:bodyPr/>
              <a:lstStyle/>
              <a:p>
                <a:r>
                  <a:rPr lang="en-US">
                    <a:noFill/>
                  </a:rPr>
                  <a:t> </a:t>
                </a:r>
              </a:p>
            </p:txBody>
          </p:sp>
        </mc:Fallback>
      </mc:AlternateContent>
      <p:sp>
        <p:nvSpPr>
          <p:cNvPr id="7" name="Content Placeholder 4">
            <a:extLst>
              <a:ext uri="{FF2B5EF4-FFF2-40B4-BE49-F238E27FC236}">
                <a16:creationId xmlns:a16="http://schemas.microsoft.com/office/drawing/2014/main" id="{EB581095-EC99-0921-F203-F5B01E692803}"/>
              </a:ext>
            </a:extLst>
          </p:cNvPr>
          <p:cNvSpPr txBox="1">
            <a:spLocks/>
          </p:cNvSpPr>
          <p:nvPr/>
        </p:nvSpPr>
        <p:spPr>
          <a:xfrm>
            <a:off x="947738" y="3182590"/>
            <a:ext cx="10644186" cy="484387"/>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2) The system dynamics is modeled through heat equations</a:t>
            </a:r>
            <a:endParaRPr lang="en-US" baseline="30000" dirty="0"/>
          </a:p>
          <a:p>
            <a:pPr marL="0" indent="0">
              <a:buFont typeface="Arial" panose="020B0604020202020204" pitchFamily="34" charset="0"/>
              <a:buNone/>
            </a:pPr>
            <a:endParaRPr lang="en-US" baseline="30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F5A7F5-7202-2F46-83C2-F9B99D270DA8}"/>
                  </a:ext>
                </a:extLst>
              </p:cNvPr>
              <p:cNvSpPr txBox="1"/>
              <p:nvPr/>
            </p:nvSpPr>
            <p:spPr>
              <a:xfrm>
                <a:off x="5056549" y="3783700"/>
                <a:ext cx="3813865" cy="5275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𝐶</m:t>
                      </m:r>
                      <m:f>
                        <m:fPr>
                          <m:ctrlPr>
                            <a:rPr lang="pt-BR" b="0" i="1" smtClean="0">
                              <a:latin typeface="Cambria Math" panose="02040503050406030204" pitchFamily="18" charset="0"/>
                            </a:rPr>
                          </m:ctrlPr>
                        </m:fPr>
                        <m:num>
                          <m:r>
                            <a:rPr lang="pt-BR" b="0" i="1" smtClean="0">
                              <a:latin typeface="Cambria Math" panose="02040503050406030204" pitchFamily="18" charset="0"/>
                            </a:rPr>
                            <m:t>𝑑𝑇</m:t>
                          </m:r>
                          <m:r>
                            <a:rPr lang="pt-BR" b="0" i="1" smtClean="0">
                              <a:latin typeface="Cambria Math" panose="02040503050406030204" pitchFamily="18" charset="0"/>
                            </a:rPr>
                            <m:t>(</m:t>
                          </m:r>
                          <m:r>
                            <a:rPr lang="pt-BR" b="0" i="1" smtClean="0">
                              <a:latin typeface="Cambria Math" panose="02040503050406030204" pitchFamily="18" charset="0"/>
                            </a:rPr>
                            <m:t>𝑡</m:t>
                          </m:r>
                          <m:r>
                            <a:rPr lang="pt-BR" b="0" i="1" smtClean="0">
                              <a:latin typeface="Cambria Math" panose="02040503050406030204" pitchFamily="18" charset="0"/>
                            </a:rPr>
                            <m:t>)</m:t>
                          </m:r>
                        </m:num>
                        <m:den>
                          <m:r>
                            <a:rPr lang="pt-BR" b="0" i="1" smtClean="0">
                              <a:latin typeface="Cambria Math" panose="02040503050406030204" pitchFamily="18" charset="0"/>
                            </a:rPr>
                            <m:t>𝑑𝑡</m:t>
                          </m:r>
                        </m:den>
                      </m:f>
                      <m:r>
                        <a:rPr lang="pt-BR" b="0" i="1" smtClean="0">
                          <a:latin typeface="Cambria Math" panose="02040503050406030204" pitchFamily="18" charset="0"/>
                        </a:rPr>
                        <m:t>=</m:t>
                      </m:r>
                      <m:r>
                        <m:rPr>
                          <m:nor/>
                        </m:rPr>
                        <a:rPr lang="en-US" i="1"/>
                        <m:t>h</m:t>
                      </m:r>
                      <m:acc>
                        <m:accPr>
                          <m:chr m:val="̇"/>
                          <m:ctrlPr>
                            <a:rPr lang="en-US" i="1">
                              <a:latin typeface="Cambria Math" panose="02040503050406030204" pitchFamily="18" charset="0"/>
                            </a:rPr>
                          </m:ctrlPr>
                        </m:accPr>
                        <m:e>
                          <m:r>
                            <a:rPr lang="pt-BR" b="0" i="1" smtClean="0">
                              <a:latin typeface="Cambria Math" panose="02040503050406030204" pitchFamily="18" charset="0"/>
                            </a:rPr>
                            <m:t> </m:t>
                          </m:r>
                          <m:r>
                            <a:rPr lang="en-US" i="1">
                              <a:latin typeface="Cambria Math" panose="02040503050406030204" pitchFamily="18" charset="0"/>
                            </a:rPr>
                            <m:t>𝑚</m:t>
                          </m:r>
                        </m:e>
                      </m:acc>
                      <m:d>
                        <m:dPr>
                          <m:ctrlPr>
                            <a:rPr lang="en-US" i="1">
                              <a:latin typeface="Cambria Math" panose="02040503050406030204" pitchFamily="18" charset="0"/>
                            </a:rPr>
                          </m:ctrlPr>
                        </m:dPr>
                        <m:e>
                          <m:r>
                            <a:rPr lang="en-US" i="1">
                              <a:latin typeface="Cambria Math" panose="02040503050406030204" pitchFamily="18" charset="0"/>
                            </a:rPr>
                            <m:t>𝑡</m:t>
                          </m:r>
                        </m:e>
                      </m:d>
                      <m:r>
                        <a:rPr lang="pt-BR" b="0" i="1" smtClean="0">
                          <a:latin typeface="Cambria Math" panose="02040503050406030204" pitchFamily="18" charset="0"/>
                        </a:rPr>
                        <m:t>−</m:t>
                      </m:r>
                      <m:r>
                        <a:rPr lang="pt-BR" b="0" i="1" smtClean="0">
                          <a:latin typeface="Cambria Math" panose="02040503050406030204" pitchFamily="18" charset="0"/>
                        </a:rPr>
                        <m:t>𝑈</m:t>
                      </m:r>
                      <m:d>
                        <m:dPr>
                          <m:ctrlPr>
                            <a:rPr lang="pt-BR" b="0" i="1" smtClean="0">
                              <a:latin typeface="Cambria Math" panose="02040503050406030204" pitchFamily="18" charset="0"/>
                            </a:rPr>
                          </m:ctrlPr>
                        </m:dPr>
                        <m:e>
                          <m:r>
                            <a:rPr lang="pt-BR" b="0" i="1" smtClean="0">
                              <a:latin typeface="Cambria Math" panose="02040503050406030204" pitchFamily="18" charset="0"/>
                            </a:rPr>
                            <m:t>𝑇</m:t>
                          </m:r>
                          <m:d>
                            <m:dPr>
                              <m:ctrlPr>
                                <a:rPr lang="pt-BR" b="0" i="1" smtClean="0">
                                  <a:latin typeface="Cambria Math" panose="02040503050406030204" pitchFamily="18" charset="0"/>
                                </a:rPr>
                              </m:ctrlPr>
                            </m:dPr>
                            <m:e>
                              <m:r>
                                <a:rPr lang="pt-BR" b="0" i="1" smtClean="0">
                                  <a:latin typeface="Cambria Math" panose="02040503050406030204" pitchFamily="18" charset="0"/>
                                </a:rPr>
                                <m:t>𝑡</m:t>
                              </m:r>
                            </m:e>
                          </m:d>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𝑇</m:t>
                              </m:r>
                            </m:e>
                            <m:sub>
                              <m:r>
                                <a:rPr lang="pt-BR" b="0" i="1" smtClean="0">
                                  <a:latin typeface="Cambria Math" panose="02040503050406030204" pitchFamily="18" charset="0"/>
                                </a:rPr>
                                <m:t>𝑜𝑢𝑡</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𝑡</m:t>
                              </m:r>
                            </m:e>
                          </m:d>
                        </m:e>
                      </m:d>
                    </m:oMath>
                  </m:oMathPara>
                </a14:m>
                <a:endParaRPr lang="en-US" dirty="0"/>
              </a:p>
            </p:txBody>
          </p:sp>
        </mc:Choice>
        <mc:Fallback xmlns="">
          <p:sp>
            <p:nvSpPr>
              <p:cNvPr id="10" name="TextBox 9">
                <a:extLst>
                  <a:ext uri="{FF2B5EF4-FFF2-40B4-BE49-F238E27FC236}">
                    <a16:creationId xmlns:a16="http://schemas.microsoft.com/office/drawing/2014/main" id="{5AF5A7F5-7202-2F46-83C2-F9B99D270DA8}"/>
                  </a:ext>
                </a:extLst>
              </p:cNvPr>
              <p:cNvSpPr txBox="1">
                <a:spLocks noRot="1" noChangeAspect="1" noMove="1" noResize="1" noEditPoints="1" noAdjustHandles="1" noChangeArrowheads="1" noChangeShapeType="1" noTextEdit="1"/>
              </p:cNvSpPr>
              <p:nvPr/>
            </p:nvSpPr>
            <p:spPr>
              <a:xfrm>
                <a:off x="5056549" y="3783700"/>
                <a:ext cx="3813865" cy="527580"/>
              </a:xfrm>
              <a:prstGeom prst="rect">
                <a:avLst/>
              </a:prstGeom>
              <a:blipFill>
                <a:blip r:embed="rId5"/>
                <a:stretch>
                  <a:fillRect l="-662" t="-7143" b="-14286"/>
                </a:stretch>
              </a:blipFill>
            </p:spPr>
            <p:txBody>
              <a:bodyPr/>
              <a:lstStyle/>
              <a:p>
                <a:r>
                  <a:rPr lang="en-US">
                    <a:noFill/>
                  </a:rPr>
                  <a:t> </a:t>
                </a:r>
              </a:p>
            </p:txBody>
          </p:sp>
        </mc:Fallback>
      </mc:AlternateContent>
      <p:sp>
        <p:nvSpPr>
          <p:cNvPr id="12" name="Content Placeholder 4">
            <a:extLst>
              <a:ext uri="{FF2B5EF4-FFF2-40B4-BE49-F238E27FC236}">
                <a16:creationId xmlns:a16="http://schemas.microsoft.com/office/drawing/2014/main" id="{2A0CA517-1278-61B2-9F10-F036C3A256BD}"/>
              </a:ext>
            </a:extLst>
          </p:cNvPr>
          <p:cNvSpPr txBox="1">
            <a:spLocks/>
          </p:cNvSpPr>
          <p:nvPr/>
        </p:nvSpPr>
        <p:spPr>
          <a:xfrm>
            <a:off x="947738" y="4585764"/>
            <a:ext cx="10644186" cy="1011471"/>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 variation of temperature in the system is due to unbalance between heat generated and losses due to conduction between the indoors and outdoors.</a:t>
            </a:r>
          </a:p>
          <a:p>
            <a:pPr marL="0" indent="0">
              <a:buFont typeface="Arial" panose="020B0604020202020204" pitchFamily="34" charset="0"/>
              <a:buNone/>
            </a:pPr>
            <a:r>
              <a:rPr lang="en-US" dirty="0"/>
              <a:t>Rearranging to use in out fitting with constraints problem:</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C8B9E16-1F21-4B49-5949-B0CEBAD3F0E4}"/>
                  </a:ext>
                </a:extLst>
              </p:cNvPr>
              <p:cNvSpPr txBox="1"/>
              <p:nvPr/>
            </p:nvSpPr>
            <p:spPr>
              <a:xfrm>
                <a:off x="4492292" y="5757597"/>
                <a:ext cx="4942379" cy="5275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m:t>
                          </m:r>
                        </m:e>
                      </m:d>
                      <m:r>
                        <a:rPr lang="pt-BR" b="0" i="1" smtClean="0">
                          <a:latin typeface="Cambria Math" panose="02040503050406030204" pitchFamily="18" charset="0"/>
                        </a:rPr>
                        <m:t>=</m:t>
                      </m:r>
                      <m:r>
                        <a:rPr lang="pt-BR" b="0" i="1" smtClean="0">
                          <a:latin typeface="Cambria Math" panose="02040503050406030204" pitchFamily="18" charset="0"/>
                        </a:rPr>
                        <m:t>𝐶</m:t>
                      </m:r>
                      <m:f>
                        <m:fPr>
                          <m:ctrlPr>
                            <a:rPr lang="pt-BR" b="0" i="1" smtClean="0">
                              <a:latin typeface="Cambria Math" panose="02040503050406030204" pitchFamily="18" charset="0"/>
                            </a:rPr>
                          </m:ctrlPr>
                        </m:fPr>
                        <m:num>
                          <m:r>
                            <a:rPr lang="pt-BR" b="0" i="1" smtClean="0">
                              <a:latin typeface="Cambria Math" panose="02040503050406030204" pitchFamily="18" charset="0"/>
                            </a:rPr>
                            <m:t>𝑑𝑇</m:t>
                          </m:r>
                          <m:r>
                            <a:rPr lang="pt-BR" b="0" i="1" smtClean="0">
                              <a:latin typeface="Cambria Math" panose="02040503050406030204" pitchFamily="18" charset="0"/>
                            </a:rPr>
                            <m:t>(</m:t>
                          </m:r>
                          <m:r>
                            <a:rPr lang="pt-BR" b="0" i="1" smtClean="0">
                              <a:latin typeface="Cambria Math" panose="02040503050406030204" pitchFamily="18" charset="0"/>
                            </a:rPr>
                            <m:t>𝑡</m:t>
                          </m:r>
                          <m:r>
                            <a:rPr lang="pt-BR" b="0" i="1" smtClean="0">
                              <a:latin typeface="Cambria Math" panose="02040503050406030204" pitchFamily="18" charset="0"/>
                            </a:rPr>
                            <m:t>)</m:t>
                          </m:r>
                        </m:num>
                        <m:den>
                          <m:r>
                            <a:rPr lang="pt-BR" b="0" i="1" smtClean="0">
                              <a:latin typeface="Cambria Math" panose="02040503050406030204" pitchFamily="18" charset="0"/>
                            </a:rPr>
                            <m:t>𝑑𝑡</m:t>
                          </m:r>
                        </m:den>
                      </m:f>
                      <m:r>
                        <a:rPr lang="pt-BR" i="1">
                          <a:latin typeface="Cambria Math" panose="02040503050406030204" pitchFamily="18" charset="0"/>
                        </a:rPr>
                        <m:t>−</m:t>
                      </m:r>
                      <m:r>
                        <m:rPr>
                          <m:nor/>
                        </m:rPr>
                        <a:rPr lang="en-US" i="1"/>
                        <m:t>h</m:t>
                      </m:r>
                      <m:acc>
                        <m:accPr>
                          <m:chr m:val="̇"/>
                          <m:ctrlPr>
                            <a:rPr lang="en-US" i="1">
                              <a:latin typeface="Cambria Math" panose="02040503050406030204" pitchFamily="18" charset="0"/>
                            </a:rPr>
                          </m:ctrlPr>
                        </m:accPr>
                        <m:e>
                          <m:r>
                            <a:rPr lang="pt-BR" i="1">
                              <a:latin typeface="Cambria Math" panose="02040503050406030204" pitchFamily="18" charset="0"/>
                            </a:rPr>
                            <m:t> </m:t>
                          </m:r>
                          <m:r>
                            <a:rPr lang="en-US" i="1">
                              <a:latin typeface="Cambria Math" panose="02040503050406030204" pitchFamily="18" charset="0"/>
                            </a:rPr>
                            <m:t>𝑚</m:t>
                          </m:r>
                        </m:e>
                      </m:acc>
                      <m:d>
                        <m:dPr>
                          <m:ctrlPr>
                            <a:rPr lang="en-US" i="1">
                              <a:latin typeface="Cambria Math" panose="02040503050406030204" pitchFamily="18" charset="0"/>
                            </a:rPr>
                          </m:ctrlPr>
                        </m:dPr>
                        <m:e>
                          <m:r>
                            <a:rPr lang="en-US" i="1">
                              <a:latin typeface="Cambria Math" panose="02040503050406030204" pitchFamily="18" charset="0"/>
                            </a:rPr>
                            <m:t>𝑡</m:t>
                          </m:r>
                        </m:e>
                      </m:d>
                      <m:r>
                        <a:rPr lang="pt-BR" b="0" i="1" smtClean="0">
                          <a:latin typeface="Cambria Math" panose="02040503050406030204" pitchFamily="18" charset="0"/>
                        </a:rPr>
                        <m:t>+</m:t>
                      </m:r>
                      <m:r>
                        <a:rPr lang="pt-BR" i="1">
                          <a:latin typeface="Cambria Math" panose="02040503050406030204" pitchFamily="18" charset="0"/>
                        </a:rPr>
                        <m:t>𝑈</m:t>
                      </m:r>
                      <m:d>
                        <m:dPr>
                          <m:ctrlPr>
                            <a:rPr lang="pt-BR" i="1">
                              <a:latin typeface="Cambria Math" panose="02040503050406030204" pitchFamily="18" charset="0"/>
                            </a:rPr>
                          </m:ctrlPr>
                        </m:dPr>
                        <m:e>
                          <m:r>
                            <a:rPr lang="pt-BR" i="1">
                              <a:latin typeface="Cambria Math" panose="02040503050406030204" pitchFamily="18" charset="0"/>
                            </a:rPr>
                            <m:t>𝑇</m:t>
                          </m:r>
                          <m:d>
                            <m:dPr>
                              <m:ctrlPr>
                                <a:rPr lang="pt-BR" i="1">
                                  <a:latin typeface="Cambria Math" panose="02040503050406030204" pitchFamily="18" charset="0"/>
                                </a:rPr>
                              </m:ctrlPr>
                            </m:dPr>
                            <m:e>
                              <m:r>
                                <a:rPr lang="pt-BR" i="1">
                                  <a:latin typeface="Cambria Math" panose="02040503050406030204" pitchFamily="18" charset="0"/>
                                </a:rPr>
                                <m:t>𝑡</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𝑇</m:t>
                              </m:r>
                            </m:e>
                            <m:sub>
                              <m:r>
                                <a:rPr lang="pt-BR" i="1">
                                  <a:latin typeface="Cambria Math" panose="02040503050406030204" pitchFamily="18" charset="0"/>
                                </a:rPr>
                                <m:t>𝑜𝑢𝑡</m:t>
                              </m:r>
                            </m:sub>
                          </m:sSub>
                          <m:d>
                            <m:dPr>
                              <m:ctrlPr>
                                <a:rPr lang="pt-BR" i="1">
                                  <a:latin typeface="Cambria Math" panose="02040503050406030204" pitchFamily="18" charset="0"/>
                                </a:rPr>
                              </m:ctrlPr>
                            </m:dPr>
                            <m:e>
                              <m:r>
                                <a:rPr lang="pt-BR" i="1">
                                  <a:latin typeface="Cambria Math" panose="02040503050406030204" pitchFamily="18" charset="0"/>
                                </a:rPr>
                                <m:t>𝑡</m:t>
                              </m:r>
                            </m:e>
                          </m:d>
                        </m:e>
                      </m:d>
                      <m:r>
                        <a:rPr lang="pt-BR"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DC8B9E16-1F21-4B49-5949-B0CEBAD3F0E4}"/>
                  </a:ext>
                </a:extLst>
              </p:cNvPr>
              <p:cNvSpPr txBox="1">
                <a:spLocks noRot="1" noChangeAspect="1" noMove="1" noResize="1" noEditPoints="1" noAdjustHandles="1" noChangeArrowheads="1" noChangeShapeType="1" noTextEdit="1"/>
              </p:cNvSpPr>
              <p:nvPr/>
            </p:nvSpPr>
            <p:spPr>
              <a:xfrm>
                <a:off x="4492292" y="5757597"/>
                <a:ext cx="4942379" cy="527580"/>
              </a:xfrm>
              <a:prstGeom prst="rect">
                <a:avLst/>
              </a:prstGeom>
              <a:blipFill>
                <a:blip r:embed="rId6"/>
                <a:stretch>
                  <a:fillRect l="-512" t="-4762" r="-256" b="-16667"/>
                </a:stretch>
              </a:blipFill>
            </p:spPr>
            <p:txBody>
              <a:bodyPr/>
              <a:lstStyle/>
              <a:p>
                <a:r>
                  <a:rPr lang="en-US">
                    <a:noFill/>
                  </a:rPr>
                  <a:t> </a:t>
                </a:r>
              </a:p>
            </p:txBody>
          </p:sp>
        </mc:Fallback>
      </mc:AlternateContent>
    </p:spTree>
    <p:extLst>
      <p:ext uri="{BB962C8B-B14F-4D97-AF65-F5344CB8AC3E}">
        <p14:creationId xmlns:p14="http://schemas.microsoft.com/office/powerpoint/2010/main" val="838121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92C76-A14A-A932-8220-99BFD41DFC3B}"/>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70DA3945-C70E-5F53-E1DE-395CCCC4E307}"/>
              </a:ext>
            </a:extLst>
          </p:cNvPr>
          <p:cNvSpPr>
            <a:spLocks noGrp="1"/>
          </p:cNvSpPr>
          <p:nvPr>
            <p:ph type="title"/>
          </p:nvPr>
        </p:nvSpPr>
        <p:spPr/>
        <p:txBody>
          <a:bodyPr/>
          <a:lstStyle/>
          <a:p>
            <a:r>
              <a:rPr lang="en-GB" sz="3200" dirty="0"/>
              <a:t>Putting it all together</a:t>
            </a:r>
            <a:endParaRPr lang="en-GB" dirty="0"/>
          </a:p>
        </p:txBody>
      </p:sp>
      <p:sp>
        <p:nvSpPr>
          <p:cNvPr id="4" name="Slide Number Placeholder 3">
            <a:extLst>
              <a:ext uri="{FF2B5EF4-FFF2-40B4-BE49-F238E27FC236}">
                <a16:creationId xmlns:a16="http://schemas.microsoft.com/office/drawing/2014/main" id="{BB58FADB-7499-8356-AD46-C490F4FE1985}"/>
              </a:ext>
            </a:extLst>
          </p:cNvPr>
          <p:cNvSpPr>
            <a:spLocks noGrp="1"/>
          </p:cNvSpPr>
          <p:nvPr>
            <p:ph type="sldNum" sz="quarter" idx="12"/>
          </p:nvPr>
        </p:nvSpPr>
        <p:spPr/>
        <p:txBody>
          <a:bodyPr/>
          <a:lstStyle/>
          <a:p>
            <a:fld id="{B716C8F4-20CD-364A-8A8E-DE130115B178}" type="slidenum">
              <a:rPr lang="en-GB" sz="900" noProof="0" smtClean="0"/>
              <a:pPr/>
              <a:t>10</a:t>
            </a:fld>
            <a:endParaRPr lang="en-GB" sz="900" noProof="0" dirty="0"/>
          </a:p>
        </p:txBody>
      </p:sp>
      <p:sp>
        <p:nvSpPr>
          <p:cNvPr id="5" name="Content Placeholder 4">
            <a:extLst>
              <a:ext uri="{FF2B5EF4-FFF2-40B4-BE49-F238E27FC236}">
                <a16:creationId xmlns:a16="http://schemas.microsoft.com/office/drawing/2014/main" id="{31D8C856-833E-CE4D-26F8-0A8A90D05F6F}"/>
              </a:ext>
            </a:extLst>
          </p:cNvPr>
          <p:cNvSpPr>
            <a:spLocks noGrp="1"/>
          </p:cNvSpPr>
          <p:nvPr>
            <p:ph sz="quarter" idx="16"/>
          </p:nvPr>
        </p:nvSpPr>
        <p:spPr>
          <a:xfrm>
            <a:off x="947739" y="2147977"/>
            <a:ext cx="10644186" cy="622117"/>
          </a:xfrm>
        </p:spPr>
        <p:txBody>
          <a:bodyPr/>
          <a:lstStyle/>
          <a:p>
            <a:pPr marL="0" indent="0">
              <a:buNone/>
            </a:pPr>
            <a:r>
              <a:rPr lang="en-US" dirty="0"/>
              <a:t>Gathering the objective function and the constraints into a single function L:</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23C74D-60F8-AC56-5220-DD1F2823C0E2}"/>
                  </a:ext>
                </a:extLst>
              </p:cNvPr>
              <p:cNvSpPr txBox="1"/>
              <p:nvPr/>
            </p:nvSpPr>
            <p:spPr>
              <a:xfrm>
                <a:off x="947739" y="2770094"/>
                <a:ext cx="8686159" cy="6229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pt-BR" i="1" smtClean="0">
                              <a:latin typeface="Cambria Math" panose="02040503050406030204" pitchFamily="18" charset="0"/>
                            </a:rPr>
                          </m:ctrlPr>
                        </m:funcPr>
                        <m:fName>
                          <m:r>
                            <a:rPr lang="pt-BR" b="0" i="1" smtClean="0">
                              <a:latin typeface="Cambria Math" panose="02040503050406030204" pitchFamily="18" charset="0"/>
                            </a:rPr>
                            <m:t>𝐿</m:t>
                          </m:r>
                          <m:d>
                            <m:dPr>
                              <m:ctrlPr>
                                <a:rPr lang="pt-BR" i="1" smtClean="0">
                                  <a:latin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m:t>
                              </m:r>
                            </m:e>
                          </m:d>
                          <m:r>
                            <a:rPr lang="pt-BR" b="0" i="1" smtClean="0">
                              <a:latin typeface="Cambria Math" panose="02040503050406030204" pitchFamily="18" charset="0"/>
                              <a:ea typeface="Cambria Math" panose="02040503050406030204" pitchFamily="18" charset="0"/>
                            </a:rPr>
                            <m:t>=</m:t>
                          </m:r>
                        </m:fName>
                        <m:e>
                          <m:nary>
                            <m:naryPr>
                              <m:ctrlPr>
                                <a:rPr lang="pt-BR"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𝑋</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b="1" i="1" smtClean="0">
                                          <a:solidFill>
                                            <a:srgbClr val="00B050"/>
                                          </a:solidFill>
                                          <a:latin typeface="Cambria Math" panose="02040503050406030204" pitchFamily="18" charset="0"/>
                                        </a:rPr>
                                        <m:t>𝑻</m:t>
                                      </m:r>
                                      <m:d>
                                        <m:dPr>
                                          <m:ctrlPr>
                                            <a:rPr lang="pt-BR" b="1" i="1">
                                              <a:solidFill>
                                                <a:srgbClr val="00B050"/>
                                              </a:solidFill>
                                              <a:latin typeface="Cambria Math" panose="02040503050406030204" pitchFamily="18" charset="0"/>
                                            </a:rPr>
                                          </m:ctrlPr>
                                        </m:dPr>
                                        <m:e>
                                          <m:r>
                                            <a:rPr lang="pt-BR" b="1" i="1">
                                              <a:solidFill>
                                                <a:srgbClr val="00B050"/>
                                              </a:solidFill>
                                              <a:latin typeface="Cambria Math" panose="02040503050406030204" pitchFamily="18" charset="0"/>
                                            </a:rPr>
                                            <m:t>𝒕</m:t>
                                          </m:r>
                                        </m:e>
                                      </m:d>
                                      <m:r>
                                        <a:rPr lang="pt-BR" b="0" i="1">
                                          <a:latin typeface="Cambria Math" panose="02040503050406030204" pitchFamily="18" charset="0"/>
                                        </a:rPr>
                                        <m:t>−</m:t>
                                      </m:r>
                                      <m:sSub>
                                        <m:sSubPr>
                                          <m:ctrlPr>
                                            <a:rPr lang="pt-BR" b="1" i="1" smtClean="0">
                                              <a:solidFill>
                                                <a:srgbClr val="7030A0"/>
                                              </a:solidFill>
                                              <a:latin typeface="Cambria Math" panose="02040503050406030204" pitchFamily="18" charset="0"/>
                                            </a:rPr>
                                          </m:ctrlPr>
                                        </m:sSubPr>
                                        <m:e>
                                          <m:r>
                                            <a:rPr lang="pt-BR" b="1" i="1">
                                              <a:solidFill>
                                                <a:srgbClr val="7030A0"/>
                                              </a:solidFill>
                                              <a:latin typeface="Cambria Math" panose="02040503050406030204" pitchFamily="18" charset="0"/>
                                            </a:rPr>
                                            <m:t>𝑻</m:t>
                                          </m:r>
                                        </m:e>
                                        <m:sub>
                                          <m:r>
                                            <a:rPr lang="pt-BR" b="1" i="1">
                                              <a:solidFill>
                                                <a:srgbClr val="7030A0"/>
                                              </a:solidFill>
                                              <a:latin typeface="Cambria Math" panose="02040503050406030204" pitchFamily="18" charset="0"/>
                                            </a:rPr>
                                            <m:t>𝒕𝒂𝒓𝒈𝒆𝒕</m:t>
                                          </m:r>
                                        </m:sub>
                                      </m:sSub>
                                      <m:d>
                                        <m:dPr>
                                          <m:ctrlPr>
                                            <a:rPr lang="pt-BR" b="1" i="1">
                                              <a:solidFill>
                                                <a:srgbClr val="7030A0"/>
                                              </a:solidFill>
                                              <a:latin typeface="Cambria Math" panose="02040503050406030204" pitchFamily="18" charset="0"/>
                                            </a:rPr>
                                          </m:ctrlPr>
                                        </m:dPr>
                                        <m:e>
                                          <m:r>
                                            <a:rPr lang="pt-BR" b="1" i="1">
                                              <a:solidFill>
                                                <a:srgbClr val="7030A0"/>
                                              </a:solidFill>
                                              <a:latin typeface="Cambria Math" panose="02040503050406030204" pitchFamily="18" charset="0"/>
                                            </a:rPr>
                                            <m:t>𝒕</m:t>
                                          </m:r>
                                        </m:e>
                                      </m:d>
                                    </m:e>
                                  </m:d>
                                </m:e>
                                <m:sup>
                                  <m:r>
                                    <a:rPr lang="pt-BR" b="0" i="1">
                                      <a:latin typeface="Cambria Math" panose="02040503050406030204" pitchFamily="18" charset="0"/>
                                    </a:rPr>
                                    <m:t>2</m:t>
                                  </m:r>
                                </m:sup>
                              </m:sSup>
                              <m:r>
                                <a:rPr lang="pt-BR" b="0" i="1" smtClean="0">
                                  <a:latin typeface="Cambria Math" panose="02040503050406030204" pitchFamily="18" charset="0"/>
                                </a:rPr>
                                <m:t>+</m:t>
                              </m:r>
                              <m:r>
                                <a:rPr lang="pt-BR" b="0" i="1">
                                  <a:latin typeface="Cambria Math" panose="02040503050406030204" pitchFamily="18" charset="0"/>
                                </a:rPr>
                                <m:t>𝛽</m:t>
                              </m:r>
                              <m:r>
                                <a:rPr lang="pt-BR" b="0" i="1">
                                  <a:latin typeface="Cambria Math" panose="02040503050406030204" pitchFamily="18" charset="0"/>
                                </a:rPr>
                                <m:t> </m:t>
                              </m:r>
                              <m:acc>
                                <m:accPr>
                                  <m:chr m:val="̇"/>
                                  <m:ctrlPr>
                                    <a:rPr lang="pt-BR" b="1" i="1" smtClean="0">
                                      <a:solidFill>
                                        <a:srgbClr val="00B050"/>
                                      </a:solidFill>
                                      <a:latin typeface="Cambria Math" panose="02040503050406030204" pitchFamily="18" charset="0"/>
                                    </a:rPr>
                                  </m:ctrlPr>
                                </m:accPr>
                                <m:e>
                                  <m:r>
                                    <a:rPr lang="pt-BR" b="1" i="1">
                                      <a:solidFill>
                                        <a:srgbClr val="00B050"/>
                                      </a:solidFill>
                                      <a:latin typeface="Cambria Math" panose="02040503050406030204" pitchFamily="18" charset="0"/>
                                    </a:rPr>
                                    <m:t>𝒎</m:t>
                                  </m:r>
                                </m:e>
                              </m:acc>
                              <m:d>
                                <m:dPr>
                                  <m:ctrlPr>
                                    <a:rPr lang="pt-BR" b="1" i="1">
                                      <a:solidFill>
                                        <a:srgbClr val="00B050"/>
                                      </a:solidFill>
                                      <a:latin typeface="Cambria Math" panose="02040503050406030204" pitchFamily="18" charset="0"/>
                                    </a:rPr>
                                  </m:ctrlPr>
                                </m:dPr>
                                <m:e>
                                  <m:r>
                                    <a:rPr lang="pt-BR" b="1" i="1">
                                      <a:solidFill>
                                        <a:srgbClr val="00B050"/>
                                      </a:solidFill>
                                      <a:latin typeface="Cambria Math" panose="02040503050406030204" pitchFamily="18" charset="0"/>
                                    </a:rPr>
                                    <m:t>𝒕</m:t>
                                  </m:r>
                                </m:e>
                              </m:d>
                              <m:r>
                                <a:rPr lang="pt-BR" b="0" i="1" smtClean="0">
                                  <a:latin typeface="Cambria Math" panose="02040503050406030204" pitchFamily="18" charset="0"/>
                                </a:rPr>
                                <m:t>+</m:t>
                              </m:r>
                              <m:r>
                                <a:rPr lang="pt-BR" b="1" i="1" smtClean="0">
                                  <a:solidFill>
                                    <a:srgbClr val="C00000"/>
                                  </a:solidFill>
                                  <a:latin typeface="Cambria Math" panose="02040503050406030204" pitchFamily="18" charset="0"/>
                                  <a:ea typeface="Cambria Math" panose="02040503050406030204" pitchFamily="18" charset="0"/>
                                </a:rPr>
                                <m:t>𝝀</m:t>
                              </m:r>
                              <m:d>
                                <m:dPr>
                                  <m:begChr m:val="["/>
                                  <m:endChr m:val="]"/>
                                  <m:ctrlPr>
                                    <a:rPr lang="pt-BR" i="1">
                                      <a:latin typeface="Cambria Math" panose="02040503050406030204" pitchFamily="18" charset="0"/>
                                    </a:rPr>
                                  </m:ctrlPr>
                                </m:dPr>
                                <m:e>
                                  <m:r>
                                    <a:rPr lang="pt-BR" b="0" i="1">
                                      <a:latin typeface="Cambria Math" panose="02040503050406030204" pitchFamily="18" charset="0"/>
                                    </a:rPr>
                                    <m:t>𝐶</m:t>
                                  </m:r>
                                  <m:f>
                                    <m:fPr>
                                      <m:ctrlPr>
                                        <a:rPr lang="pt-BR" i="1">
                                          <a:latin typeface="Cambria Math" panose="02040503050406030204" pitchFamily="18" charset="0"/>
                                        </a:rPr>
                                      </m:ctrlPr>
                                    </m:fPr>
                                    <m:num>
                                      <m:r>
                                        <a:rPr lang="pt-BR" b="0" i="1">
                                          <a:latin typeface="Cambria Math" panose="02040503050406030204" pitchFamily="18" charset="0"/>
                                        </a:rPr>
                                        <m:t>𝑑</m:t>
                                      </m:r>
                                      <m:r>
                                        <a:rPr lang="pt-BR" b="1" i="1" smtClean="0">
                                          <a:solidFill>
                                            <a:srgbClr val="00B050"/>
                                          </a:solidFill>
                                          <a:latin typeface="Cambria Math" panose="02040503050406030204" pitchFamily="18" charset="0"/>
                                        </a:rPr>
                                        <m:t>𝑻</m:t>
                                      </m:r>
                                      <m:r>
                                        <a:rPr lang="pt-BR" b="1" i="1" smtClean="0">
                                          <a:solidFill>
                                            <a:srgbClr val="00B050"/>
                                          </a:solidFill>
                                          <a:latin typeface="Cambria Math" panose="02040503050406030204" pitchFamily="18" charset="0"/>
                                        </a:rPr>
                                        <m:t>(</m:t>
                                      </m:r>
                                      <m:r>
                                        <a:rPr lang="pt-BR" b="1" i="1" smtClean="0">
                                          <a:solidFill>
                                            <a:srgbClr val="00B050"/>
                                          </a:solidFill>
                                          <a:latin typeface="Cambria Math" panose="02040503050406030204" pitchFamily="18" charset="0"/>
                                        </a:rPr>
                                        <m:t>𝒕</m:t>
                                      </m:r>
                                      <m:r>
                                        <a:rPr lang="pt-BR" b="1" i="1" smtClean="0">
                                          <a:solidFill>
                                            <a:srgbClr val="00B050"/>
                                          </a:solidFill>
                                          <a:latin typeface="Cambria Math" panose="02040503050406030204" pitchFamily="18" charset="0"/>
                                        </a:rPr>
                                        <m:t>)</m:t>
                                      </m:r>
                                    </m:num>
                                    <m:den>
                                      <m:r>
                                        <a:rPr lang="pt-BR" b="0" i="1">
                                          <a:latin typeface="Cambria Math" panose="02040503050406030204" pitchFamily="18" charset="0"/>
                                        </a:rPr>
                                        <m:t>𝑑𝑡</m:t>
                                      </m:r>
                                    </m:den>
                                  </m:f>
                                  <m:r>
                                    <a:rPr lang="pt-BR" b="0" i="1">
                                      <a:latin typeface="Cambria Math" panose="02040503050406030204" pitchFamily="18" charset="0"/>
                                    </a:rPr>
                                    <m:t>−</m:t>
                                  </m:r>
                                  <m:r>
                                    <m:rPr>
                                      <m:nor/>
                                    </m:rPr>
                                    <a:rPr lang="en-US" i="1"/>
                                    <m:t>h</m:t>
                                  </m:r>
                                  <m:acc>
                                    <m:accPr>
                                      <m:chr m:val="̇"/>
                                      <m:ctrlPr>
                                        <a:rPr lang="en-US" b="1" i="1" smtClean="0">
                                          <a:solidFill>
                                            <a:srgbClr val="00B050"/>
                                          </a:solidFill>
                                          <a:latin typeface="Cambria Math" panose="02040503050406030204" pitchFamily="18" charset="0"/>
                                        </a:rPr>
                                      </m:ctrlPr>
                                    </m:accPr>
                                    <m:e>
                                      <m:r>
                                        <a:rPr lang="pt-BR"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𝒎</m:t>
                                      </m:r>
                                    </m:e>
                                  </m:acc>
                                  <m:d>
                                    <m:dPr>
                                      <m:ctrlPr>
                                        <a:rPr lang="en-US" b="1" i="1">
                                          <a:solidFill>
                                            <a:srgbClr val="00B050"/>
                                          </a:solidFill>
                                          <a:latin typeface="Cambria Math" panose="02040503050406030204" pitchFamily="18" charset="0"/>
                                        </a:rPr>
                                      </m:ctrlPr>
                                    </m:dPr>
                                    <m:e>
                                      <m:r>
                                        <a:rPr lang="en-US" b="1" i="1">
                                          <a:solidFill>
                                            <a:srgbClr val="00B050"/>
                                          </a:solidFill>
                                          <a:latin typeface="Cambria Math" panose="02040503050406030204" pitchFamily="18" charset="0"/>
                                        </a:rPr>
                                        <m:t>𝒕</m:t>
                                      </m:r>
                                    </m:e>
                                  </m:d>
                                  <m:r>
                                    <a:rPr lang="pt-BR" b="0" i="1">
                                      <a:latin typeface="Cambria Math" panose="02040503050406030204" pitchFamily="18" charset="0"/>
                                    </a:rPr>
                                    <m:t>+</m:t>
                                  </m:r>
                                  <m:r>
                                    <a:rPr lang="pt-BR" b="0" i="1">
                                      <a:latin typeface="Cambria Math" panose="02040503050406030204" pitchFamily="18" charset="0"/>
                                    </a:rPr>
                                    <m:t>𝑈</m:t>
                                  </m:r>
                                  <m:d>
                                    <m:dPr>
                                      <m:ctrlPr>
                                        <a:rPr lang="pt-BR" i="1">
                                          <a:latin typeface="Cambria Math" panose="02040503050406030204" pitchFamily="18" charset="0"/>
                                        </a:rPr>
                                      </m:ctrlPr>
                                    </m:dPr>
                                    <m:e>
                                      <m:r>
                                        <a:rPr lang="pt-BR" b="1" i="1" smtClean="0">
                                          <a:solidFill>
                                            <a:srgbClr val="00B050"/>
                                          </a:solidFill>
                                          <a:latin typeface="Cambria Math" panose="02040503050406030204" pitchFamily="18" charset="0"/>
                                        </a:rPr>
                                        <m:t>𝑻</m:t>
                                      </m:r>
                                      <m:d>
                                        <m:dPr>
                                          <m:ctrlPr>
                                            <a:rPr lang="pt-BR" b="1" i="1">
                                              <a:solidFill>
                                                <a:srgbClr val="00B050"/>
                                              </a:solidFill>
                                              <a:latin typeface="Cambria Math" panose="02040503050406030204" pitchFamily="18" charset="0"/>
                                            </a:rPr>
                                          </m:ctrlPr>
                                        </m:dPr>
                                        <m:e>
                                          <m:r>
                                            <a:rPr lang="pt-BR" b="1" i="1">
                                              <a:solidFill>
                                                <a:srgbClr val="00B050"/>
                                              </a:solidFill>
                                              <a:latin typeface="Cambria Math" panose="02040503050406030204" pitchFamily="18" charset="0"/>
                                            </a:rPr>
                                            <m:t>𝒕</m:t>
                                          </m:r>
                                        </m:e>
                                      </m:d>
                                      <m:r>
                                        <a:rPr lang="pt-BR" b="0" i="1">
                                          <a:latin typeface="Cambria Math" panose="02040503050406030204" pitchFamily="18" charset="0"/>
                                        </a:rPr>
                                        <m:t>−</m:t>
                                      </m:r>
                                      <m:sSub>
                                        <m:sSubPr>
                                          <m:ctrlPr>
                                            <a:rPr lang="pt-BR" b="1" i="1" smtClean="0">
                                              <a:solidFill>
                                                <a:srgbClr val="7030A0"/>
                                              </a:solidFill>
                                              <a:latin typeface="Cambria Math" panose="02040503050406030204" pitchFamily="18" charset="0"/>
                                            </a:rPr>
                                          </m:ctrlPr>
                                        </m:sSubPr>
                                        <m:e>
                                          <m:r>
                                            <a:rPr lang="pt-BR" b="1" i="1">
                                              <a:solidFill>
                                                <a:srgbClr val="7030A0"/>
                                              </a:solidFill>
                                              <a:latin typeface="Cambria Math" panose="02040503050406030204" pitchFamily="18" charset="0"/>
                                            </a:rPr>
                                            <m:t>𝑻</m:t>
                                          </m:r>
                                        </m:e>
                                        <m:sub>
                                          <m:r>
                                            <a:rPr lang="pt-BR" b="1" i="1">
                                              <a:solidFill>
                                                <a:srgbClr val="7030A0"/>
                                              </a:solidFill>
                                              <a:latin typeface="Cambria Math" panose="02040503050406030204" pitchFamily="18" charset="0"/>
                                            </a:rPr>
                                            <m:t>𝒐𝒖𝒕</m:t>
                                          </m:r>
                                        </m:sub>
                                      </m:sSub>
                                      <m:d>
                                        <m:dPr>
                                          <m:ctrlPr>
                                            <a:rPr lang="pt-BR" b="1" i="1">
                                              <a:solidFill>
                                                <a:srgbClr val="7030A0"/>
                                              </a:solidFill>
                                              <a:latin typeface="Cambria Math" panose="02040503050406030204" pitchFamily="18" charset="0"/>
                                            </a:rPr>
                                          </m:ctrlPr>
                                        </m:dPr>
                                        <m:e>
                                          <m:r>
                                            <a:rPr lang="pt-BR" b="1" i="1">
                                              <a:solidFill>
                                                <a:srgbClr val="7030A0"/>
                                              </a:solidFill>
                                              <a:latin typeface="Cambria Math" panose="02040503050406030204" pitchFamily="18" charset="0"/>
                                            </a:rPr>
                                            <m:t>𝒕</m:t>
                                          </m:r>
                                        </m:e>
                                      </m:d>
                                    </m:e>
                                  </m:d>
                                </m:e>
                              </m:d>
                              <m:r>
                                <a:rPr lang="pt-BR" b="0" i="1" dirty="0" smtClean="0">
                                  <a:latin typeface="Cambria Math" panose="02040503050406030204" pitchFamily="18" charset="0"/>
                                </a:rPr>
                                <m:t>𝑑𝑡</m:t>
                              </m:r>
                            </m:e>
                          </m:nary>
                        </m:e>
                      </m:func>
                    </m:oMath>
                  </m:oMathPara>
                </a14:m>
                <a:endParaRPr lang="en-US" dirty="0"/>
              </a:p>
            </p:txBody>
          </p:sp>
        </mc:Choice>
        <mc:Fallback xmlns="">
          <p:sp>
            <p:nvSpPr>
              <p:cNvPr id="6" name="TextBox 5">
                <a:extLst>
                  <a:ext uri="{FF2B5EF4-FFF2-40B4-BE49-F238E27FC236}">
                    <a16:creationId xmlns:a16="http://schemas.microsoft.com/office/drawing/2014/main" id="{9723C74D-60F8-AC56-5220-DD1F2823C0E2}"/>
                  </a:ext>
                </a:extLst>
              </p:cNvPr>
              <p:cNvSpPr txBox="1">
                <a:spLocks noRot="1" noChangeAspect="1" noMove="1" noResize="1" noEditPoints="1" noAdjustHandles="1" noChangeArrowheads="1" noChangeShapeType="1" noTextEdit="1"/>
              </p:cNvSpPr>
              <p:nvPr/>
            </p:nvSpPr>
            <p:spPr>
              <a:xfrm>
                <a:off x="947739" y="2770094"/>
                <a:ext cx="8686159" cy="622927"/>
              </a:xfrm>
              <a:prstGeom prst="rect">
                <a:avLst/>
              </a:prstGeom>
              <a:blipFill>
                <a:blip r:embed="rId3"/>
                <a:stretch>
                  <a:fillRect l="-3358" t="-176471" r="-292" b="-26274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1DD4DEB0-8ED4-410B-16ED-225DDEFA118C}"/>
              </a:ext>
            </a:extLst>
          </p:cNvPr>
          <p:cNvSpPr txBox="1"/>
          <p:nvPr/>
        </p:nvSpPr>
        <p:spPr>
          <a:xfrm>
            <a:off x="2097741" y="4900503"/>
            <a:ext cx="2059025" cy="369332"/>
          </a:xfrm>
          <a:prstGeom prst="rect">
            <a:avLst/>
          </a:prstGeom>
          <a:noFill/>
        </p:spPr>
        <p:txBody>
          <a:bodyPr wrap="none" rtlCol="0">
            <a:spAutoFit/>
          </a:bodyPr>
          <a:lstStyle/>
          <a:p>
            <a:r>
              <a:rPr lang="en-US" b="1" dirty="0">
                <a:solidFill>
                  <a:srgbClr val="7030A0"/>
                </a:solidFill>
              </a:rPr>
              <a:t>Measured variables</a:t>
            </a:r>
          </a:p>
        </p:txBody>
      </p:sp>
      <p:sp>
        <p:nvSpPr>
          <p:cNvPr id="8" name="TextBox 7">
            <a:extLst>
              <a:ext uri="{FF2B5EF4-FFF2-40B4-BE49-F238E27FC236}">
                <a16:creationId xmlns:a16="http://schemas.microsoft.com/office/drawing/2014/main" id="{9A4B0BEF-BE8B-815E-2A47-9D1F25661980}"/>
              </a:ext>
            </a:extLst>
          </p:cNvPr>
          <p:cNvSpPr txBox="1"/>
          <p:nvPr/>
        </p:nvSpPr>
        <p:spPr>
          <a:xfrm>
            <a:off x="7548283" y="4900503"/>
            <a:ext cx="2318712" cy="369332"/>
          </a:xfrm>
          <a:prstGeom prst="rect">
            <a:avLst/>
          </a:prstGeom>
          <a:noFill/>
        </p:spPr>
        <p:txBody>
          <a:bodyPr wrap="none" rtlCol="0">
            <a:spAutoFit/>
          </a:bodyPr>
          <a:lstStyle/>
          <a:p>
            <a:r>
              <a:rPr lang="en-US" b="1" dirty="0">
                <a:solidFill>
                  <a:srgbClr val="00B050"/>
                </a:solidFill>
              </a:rPr>
              <a:t>Unmeasured variables</a:t>
            </a:r>
          </a:p>
        </p:txBody>
      </p:sp>
    </p:spTree>
    <p:extLst>
      <p:ext uri="{BB962C8B-B14F-4D97-AF65-F5344CB8AC3E}">
        <p14:creationId xmlns:p14="http://schemas.microsoft.com/office/powerpoint/2010/main" val="2541244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4EB4B-5DD3-6915-6D09-A5F5426EEBC4}"/>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3172E9D4-55BB-FD6E-74D5-B493C0256128}"/>
              </a:ext>
            </a:extLst>
          </p:cNvPr>
          <p:cNvSpPr>
            <a:spLocks noGrp="1"/>
          </p:cNvSpPr>
          <p:nvPr>
            <p:ph type="title"/>
          </p:nvPr>
        </p:nvSpPr>
        <p:spPr/>
        <p:txBody>
          <a:bodyPr/>
          <a:lstStyle/>
          <a:p>
            <a:r>
              <a:rPr lang="en-GB" sz="3200" dirty="0"/>
              <a:t>Example</a:t>
            </a:r>
            <a:endParaRPr lang="en-GB" dirty="0"/>
          </a:p>
        </p:txBody>
      </p:sp>
      <p:sp>
        <p:nvSpPr>
          <p:cNvPr id="4" name="Slide Number Placeholder 3">
            <a:extLst>
              <a:ext uri="{FF2B5EF4-FFF2-40B4-BE49-F238E27FC236}">
                <a16:creationId xmlns:a16="http://schemas.microsoft.com/office/drawing/2014/main" id="{126B357E-05C9-6ECD-5BDC-2BB2843CBAA2}"/>
              </a:ext>
            </a:extLst>
          </p:cNvPr>
          <p:cNvSpPr>
            <a:spLocks noGrp="1"/>
          </p:cNvSpPr>
          <p:nvPr>
            <p:ph type="sldNum" sz="quarter" idx="12"/>
          </p:nvPr>
        </p:nvSpPr>
        <p:spPr/>
        <p:txBody>
          <a:bodyPr/>
          <a:lstStyle/>
          <a:p>
            <a:fld id="{B716C8F4-20CD-364A-8A8E-DE130115B178}" type="slidenum">
              <a:rPr lang="en-GB" sz="900" noProof="0" smtClean="0"/>
              <a:pPr/>
              <a:t>11</a:t>
            </a:fld>
            <a:endParaRPr lang="en-GB" sz="900" noProof="0" dirty="0"/>
          </a:p>
        </p:txBody>
      </p:sp>
      <p:pic>
        <p:nvPicPr>
          <p:cNvPr id="3" name="Picture 2">
            <a:extLst>
              <a:ext uri="{FF2B5EF4-FFF2-40B4-BE49-F238E27FC236}">
                <a16:creationId xmlns:a16="http://schemas.microsoft.com/office/drawing/2014/main" id="{7F650898-E9AF-547F-3288-E209A1839DB7}"/>
              </a:ext>
            </a:extLst>
          </p:cNvPr>
          <p:cNvPicPr>
            <a:picLocks noChangeAspect="1"/>
          </p:cNvPicPr>
          <p:nvPr/>
        </p:nvPicPr>
        <p:blipFill>
          <a:blip r:embed="rId3"/>
          <a:stretch>
            <a:fillRect/>
          </a:stretch>
        </p:blipFill>
        <p:spPr>
          <a:xfrm>
            <a:off x="3712833" y="1702973"/>
            <a:ext cx="4766333" cy="4770355"/>
          </a:xfrm>
          <a:prstGeom prst="rect">
            <a:avLst/>
          </a:prstGeom>
        </p:spPr>
      </p:pic>
    </p:spTree>
    <p:extLst>
      <p:ext uri="{BB962C8B-B14F-4D97-AF65-F5344CB8AC3E}">
        <p14:creationId xmlns:p14="http://schemas.microsoft.com/office/powerpoint/2010/main" val="2004519889"/>
      </p:ext>
    </p:extLst>
  </p:cSld>
  <p:clrMapOvr>
    <a:masterClrMapping/>
  </p:clrMapOvr>
</p:sld>
</file>

<file path=ppt/theme/theme1.xml><?xml version="1.0" encoding="utf-8"?>
<a:theme xmlns:a="http://schemas.openxmlformats.org/drawingml/2006/main" name="UU theme WHIT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8" id="{5A0905CC-6E7E-6C44-B182-E24E839A57EE}" vid="{CE59B9A1-130F-7E45-B0CC-8DC9C1FCD79A}"/>
    </a:ext>
  </a:extLst>
</a:theme>
</file>

<file path=ppt/theme/theme2.xml><?xml version="1.0" encoding="utf-8"?>
<a:theme xmlns:a="http://schemas.openxmlformats.org/drawingml/2006/main" name="UU theme LIGHT GREY">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06400D09-BFF6-9D49-A0E5-E1E12BD6C29E}"/>
    </a:ext>
  </a:extLst>
</a:theme>
</file>

<file path=ppt/theme/theme3.xml><?xml version="1.0" encoding="utf-8"?>
<a:theme xmlns:a="http://schemas.openxmlformats.org/drawingml/2006/main" name="UU theme DARK GREY (NB: for the Humanities Theatr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B4C2C5B9-C070-F341-A63E-5A627FE14C01}"/>
    </a:ext>
  </a:ext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6319</TotalTime>
  <Words>390</Words>
  <Application>Microsoft Office PowerPoint</Application>
  <PresentationFormat>Широкоэкранный</PresentationFormat>
  <Paragraphs>63</Paragraphs>
  <Slides>11</Slides>
  <Notes>8</Notes>
  <HiddenSlides>0</HiddenSlides>
  <MMClips>0</MMClips>
  <ScaleCrop>false</ScaleCrop>
  <HeadingPairs>
    <vt:vector size="6" baseType="variant">
      <vt:variant>
        <vt:lpstr>Использованные шрифты</vt:lpstr>
      </vt:variant>
      <vt:variant>
        <vt:i4>6</vt:i4>
      </vt:variant>
      <vt:variant>
        <vt:lpstr>Тема</vt:lpstr>
      </vt:variant>
      <vt:variant>
        <vt:i4>3</vt:i4>
      </vt:variant>
      <vt:variant>
        <vt:lpstr>Заголовки слайдов</vt:lpstr>
      </vt:variant>
      <vt:variant>
        <vt:i4>11</vt:i4>
      </vt:variant>
    </vt:vector>
  </HeadingPairs>
  <TitlesOfParts>
    <vt:vector size="20" baseType="lpstr">
      <vt:lpstr>Work Sans Medium</vt:lpstr>
      <vt:lpstr>Work Sans SemiBold</vt:lpstr>
      <vt:lpstr>Calibri</vt:lpstr>
      <vt:lpstr>Work Sans</vt:lpstr>
      <vt:lpstr>Cambria Math</vt:lpstr>
      <vt:lpstr>Arial</vt:lpstr>
      <vt:lpstr>UU theme WHITE</vt:lpstr>
      <vt:lpstr>UU theme LIGHT GREY</vt:lpstr>
      <vt:lpstr>UU theme DARK GREY (NB: for the Humanities Theatre)</vt:lpstr>
      <vt:lpstr>Презентация PowerPoint</vt:lpstr>
      <vt:lpstr>Mini Project Lagrangian multiplier applied to dynamic heating systems</vt:lpstr>
      <vt:lpstr>Agenda</vt:lpstr>
      <vt:lpstr>Context</vt:lpstr>
      <vt:lpstr>Context</vt:lpstr>
      <vt:lpstr>Context</vt:lpstr>
      <vt:lpstr>Context</vt:lpstr>
      <vt:lpstr>Objective function</vt:lpstr>
      <vt:lpstr>Constraints</vt:lpstr>
      <vt:lpstr>Putting it all together</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Microsoft Office User</dc:creator>
  <cp:lastModifiedBy>Arsen Zakaryan</cp:lastModifiedBy>
  <cp:revision>188</cp:revision>
  <dcterms:created xsi:type="dcterms:W3CDTF">2024-03-07T15:00:47Z</dcterms:created>
  <dcterms:modified xsi:type="dcterms:W3CDTF">2026-01-08T14:32:23Z</dcterms:modified>
</cp:coreProperties>
</file>